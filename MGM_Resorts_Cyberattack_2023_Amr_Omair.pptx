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37160" cy="109728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371600"/>
            <a:ext cx="9144000" cy="731520"/>
          </a:xfrm>
          <a:prstGeom prst="rect">
            <a:avLst/>
          </a:prstGeom>
          <a:noFill/>
        </p:spPr>
        <p:txBody>
          <a:bodyPr wrap="square">
            <a:spAutoFit/>
          </a:bodyPr>
          <a:lstStyle/>
          <a:p>
            <a:pPr algn="l">
              <a:lnSpc>
                <a:spcPts val="1920"/>
              </a:lnSpc>
              <a:spcBef>
                <a:spcPts val="0"/>
              </a:spcBef>
              <a:spcAft>
                <a:spcPts val="0"/>
              </a:spcAft>
              <a:defRPr sz="1600" b="1">
                <a:solidFill>
                  <a:srgbClr val="E83E3E"/>
                </a:solidFill>
                <a:latin typeface="Calibri"/>
              </a:defRPr>
            </a:pPr>
            <a:r>
              <a:t>CASE ANALYSIS PRESENTATION</a:t>
            </a:r>
          </a:p>
        </p:txBody>
      </p:sp>
      <p:sp>
        <p:nvSpPr>
          <p:cNvPr id="5" name="TextBox 4"/>
          <p:cNvSpPr txBox="1"/>
          <p:nvPr/>
        </p:nvSpPr>
        <p:spPr>
          <a:xfrm>
            <a:off x="1188720" y="1920240"/>
            <a:ext cx="9144000" cy="1097280"/>
          </a:xfrm>
          <a:prstGeom prst="rect">
            <a:avLst/>
          </a:prstGeom>
          <a:noFill/>
        </p:spPr>
        <p:txBody>
          <a:bodyPr wrap="square">
            <a:spAutoFit/>
          </a:bodyPr>
          <a:lstStyle/>
          <a:p>
            <a:pPr algn="l">
              <a:lnSpc>
                <a:spcPts val="5280"/>
              </a:lnSpc>
              <a:spcBef>
                <a:spcPts val="0"/>
              </a:spcBef>
              <a:spcAft>
                <a:spcPts val="0"/>
              </a:spcAft>
              <a:defRPr sz="4400" b="1">
                <a:solidFill>
                  <a:srgbClr val="FFFFFF"/>
                </a:solidFill>
                <a:latin typeface="Calibri"/>
              </a:defRPr>
            </a:pPr>
            <a:r>
              <a:t>MGM Resorts International</a:t>
            </a:r>
          </a:p>
        </p:txBody>
      </p:sp>
      <p:sp>
        <p:nvSpPr>
          <p:cNvPr id="6" name="TextBox 5"/>
          <p:cNvSpPr txBox="1"/>
          <p:nvPr/>
        </p:nvSpPr>
        <p:spPr>
          <a:xfrm>
            <a:off x="1188720" y="2926080"/>
            <a:ext cx="9144000" cy="731520"/>
          </a:xfrm>
          <a:prstGeom prst="rect">
            <a:avLst/>
          </a:prstGeom>
          <a:noFill/>
        </p:spPr>
        <p:txBody>
          <a:bodyPr wrap="square">
            <a:spAutoFit/>
          </a:bodyPr>
          <a:lstStyle/>
          <a:p>
            <a:pPr algn="l">
              <a:lnSpc>
                <a:spcPts val="3360"/>
              </a:lnSpc>
              <a:spcBef>
                <a:spcPts val="0"/>
              </a:spcBef>
              <a:spcAft>
                <a:spcPts val="0"/>
              </a:spcAft>
              <a:defRPr sz="2800" b="0">
                <a:solidFill>
                  <a:srgbClr val="FFB800"/>
                </a:solidFill>
                <a:latin typeface="Calibri"/>
              </a:defRPr>
            </a:pPr>
            <a:r>
              <a:t>Cyberattack  |  September 2023</a:t>
            </a:r>
          </a:p>
        </p:txBody>
      </p:sp>
      <p:sp>
        <p:nvSpPr>
          <p:cNvPr id="7" name="Rectangle 6"/>
          <p:cNvSpPr/>
          <p:nvPr/>
        </p:nvSpPr>
        <p:spPr>
          <a:xfrm>
            <a:off x="1188720" y="3840480"/>
            <a:ext cx="2743200" cy="508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4206240"/>
            <a:ext cx="4572000" cy="457200"/>
          </a:xfrm>
          <a:prstGeom prst="rect">
            <a:avLst/>
          </a:prstGeom>
          <a:noFill/>
        </p:spPr>
        <p:txBody>
          <a:bodyPr wrap="square">
            <a:spAutoFit/>
          </a:bodyPr>
          <a:lstStyle/>
          <a:p>
            <a:pPr algn="l">
              <a:lnSpc>
                <a:spcPts val="1680"/>
              </a:lnSpc>
              <a:spcBef>
                <a:spcPts val="0"/>
              </a:spcBef>
              <a:spcAft>
                <a:spcPts val="0"/>
              </a:spcAft>
              <a:defRPr sz="1400" b="0">
                <a:solidFill>
                  <a:srgbClr val="CCCCCC"/>
                </a:solidFill>
                <a:latin typeface="Calibri"/>
              </a:defRPr>
            </a:pPr>
            <a:r>
              <a:t>Security  /  Human Factors  /  Business Continuity</a:t>
            </a:r>
          </a:p>
        </p:txBody>
      </p:sp>
      <p:sp>
        <p:nvSpPr>
          <p:cNvPr id="9" name="TextBox 8"/>
          <p:cNvSpPr txBox="1"/>
          <p:nvPr/>
        </p:nvSpPr>
        <p:spPr>
          <a:xfrm>
            <a:off x="1188720" y="5029200"/>
            <a:ext cx="4572000" cy="365760"/>
          </a:xfrm>
          <a:prstGeom prst="rect">
            <a:avLst/>
          </a:prstGeom>
          <a:noFill/>
        </p:spPr>
        <p:txBody>
          <a:bodyPr wrap="square">
            <a:spAutoFit/>
          </a:bodyPr>
          <a:lstStyle/>
          <a:p>
            <a:pPr algn="l">
              <a:lnSpc>
                <a:spcPts val="2160"/>
              </a:lnSpc>
              <a:spcBef>
                <a:spcPts val="0"/>
              </a:spcBef>
              <a:spcAft>
                <a:spcPts val="0"/>
              </a:spcAft>
              <a:defRPr sz="1800" b="0">
                <a:solidFill>
                  <a:srgbClr val="FFFFFF"/>
                </a:solidFill>
                <a:latin typeface="Calibri"/>
              </a:defRPr>
            </a:pPr>
            <a:r>
              <a:t>Prepared by:  Amr Omair</a:t>
            </a:r>
          </a:p>
        </p:txBody>
      </p:sp>
      <p:sp>
        <p:nvSpPr>
          <p:cNvPr id="10" name="TextBox 9"/>
          <p:cNvSpPr txBox="1"/>
          <p:nvPr/>
        </p:nvSpPr>
        <p:spPr>
          <a:xfrm>
            <a:off x="1188720" y="5486400"/>
            <a:ext cx="4572000" cy="365760"/>
          </a:xfrm>
          <a:prstGeom prst="rect">
            <a:avLst/>
          </a:prstGeom>
          <a:noFill/>
        </p:spPr>
        <p:txBody>
          <a:bodyPr wrap="square">
            <a:spAutoFit/>
          </a:bodyPr>
          <a:lstStyle/>
          <a:p>
            <a:pPr algn="l">
              <a:lnSpc>
                <a:spcPts val="1560"/>
              </a:lnSpc>
              <a:spcBef>
                <a:spcPts val="0"/>
              </a:spcBef>
              <a:spcAft>
                <a:spcPts val="0"/>
              </a:spcAft>
              <a:defRPr sz="1300" b="0">
                <a:solidFill>
                  <a:srgbClr val="999999"/>
                </a:solidFill>
                <a:latin typeface="Calibri"/>
              </a:defRPr>
            </a:pPr>
            <a:r>
              <a:t>Assignment 3  —  Case Analysis</a:t>
            </a:r>
          </a:p>
        </p:txBody>
      </p:sp>
      <p:sp>
        <p:nvSpPr>
          <p:cNvPr id="11" name="Rounded Rectangle 10"/>
          <p:cNvSpPr/>
          <p:nvPr/>
        </p:nvSpPr>
        <p:spPr>
          <a:xfrm>
            <a:off x="7772400" y="1828800"/>
            <a:ext cx="3657600" cy="3200400"/>
          </a:xfrm>
          <a:prstGeom prst="roundRect">
            <a:avLst>
              <a:gd name="adj" fmla="val 5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0" y="2011680"/>
            <a:ext cx="3200400" cy="2926080"/>
          </a:xfrm>
          <a:prstGeom prst="rect">
            <a:avLst/>
          </a:prstGeom>
          <a:noFill/>
        </p:spPr>
        <p:txBody>
          <a:bodyPr wrap="square">
            <a:spAutoFit/>
          </a:bodyPr>
          <a:lstStyle/>
          <a:p>
            <a:pPr algn="l">
              <a:lnSpc>
                <a:spcPts val="2560"/>
              </a:lnSpc>
              <a:spcAft>
                <a:spcPts val="400"/>
              </a:spcAft>
              <a:defRPr sz="1300" b="1">
                <a:solidFill>
                  <a:srgbClr val="E83E3E"/>
                </a:solidFill>
                <a:latin typeface="Calibri"/>
              </a:defRPr>
            </a:pPr>
            <a:r>
              <a:t>KEY FACTS</a:t>
            </a:r>
          </a:p>
          <a:p>
            <a:pPr algn="l">
              <a:lnSpc>
                <a:spcPts val="2560"/>
              </a:lnSpc>
              <a:spcAft>
                <a:spcPts val="400"/>
              </a:spcAft>
              <a:defRPr sz="800" b="0">
                <a:solidFill>
                  <a:srgbClr val="1E1E3A"/>
                </a:solidFill>
                <a:latin typeface="Calibri"/>
              </a:defRPr>
            </a:pPr>
          </a:p>
          <a:p>
            <a:pPr algn="l">
              <a:lnSpc>
                <a:spcPts val="2560"/>
              </a:lnSpc>
              <a:spcAft>
                <a:spcPts val="400"/>
              </a:spcAft>
              <a:defRPr sz="1300" b="0">
                <a:solidFill>
                  <a:srgbClr val="CCCCCC"/>
                </a:solidFill>
                <a:latin typeface="Calibri"/>
              </a:defRPr>
            </a:pPr>
            <a:r>
              <a:t>•  10-day operational shutdown</a:t>
            </a:r>
          </a:p>
          <a:p>
            <a:pPr algn="l">
              <a:lnSpc>
                <a:spcPts val="2560"/>
              </a:lnSpc>
              <a:spcAft>
                <a:spcPts val="400"/>
              </a:spcAft>
              <a:defRPr sz="1300" b="0">
                <a:solidFill>
                  <a:srgbClr val="CCCCCC"/>
                </a:solidFill>
                <a:latin typeface="Calibri"/>
              </a:defRPr>
            </a:pPr>
            <a:r>
              <a:t>•  $100 million in losses</a:t>
            </a:r>
          </a:p>
          <a:p>
            <a:pPr algn="l">
              <a:lnSpc>
                <a:spcPts val="2560"/>
              </a:lnSpc>
              <a:spcAft>
                <a:spcPts val="400"/>
              </a:spcAft>
              <a:defRPr sz="1300" b="0">
                <a:solidFill>
                  <a:srgbClr val="CCCCCC"/>
                </a:solidFill>
                <a:latin typeface="Calibri"/>
              </a:defRPr>
            </a:pPr>
            <a:r>
              <a:t>•  6 TB of data exfiltrated</a:t>
            </a:r>
          </a:p>
          <a:p>
            <a:pPr algn="l">
              <a:lnSpc>
                <a:spcPts val="2560"/>
              </a:lnSpc>
              <a:spcAft>
                <a:spcPts val="400"/>
              </a:spcAft>
              <a:defRPr sz="1300" b="0">
                <a:solidFill>
                  <a:srgbClr val="CCCCCC"/>
                </a:solidFill>
                <a:latin typeface="Calibri"/>
              </a:defRPr>
            </a:pPr>
            <a:r>
              <a:t>•  100+ servers encrypted</a:t>
            </a:r>
          </a:p>
          <a:p>
            <a:pPr algn="l">
              <a:lnSpc>
                <a:spcPts val="2560"/>
              </a:lnSpc>
              <a:spcAft>
                <a:spcPts val="400"/>
              </a:spcAft>
              <a:defRPr sz="1300" b="0">
                <a:solidFill>
                  <a:srgbClr val="CCCCCC"/>
                </a:solidFill>
                <a:latin typeface="Calibri"/>
              </a:defRPr>
            </a:pPr>
            <a:r>
              <a:t>•  29 properties affected</a:t>
            </a:r>
          </a:p>
          <a:p>
            <a:pPr algn="l">
              <a:lnSpc>
                <a:spcPts val="2560"/>
              </a:lnSpc>
              <a:spcAft>
                <a:spcPts val="400"/>
              </a:spcAft>
              <a:defRPr sz="1300" b="0">
                <a:solidFill>
                  <a:srgbClr val="CCCCCC"/>
                </a:solidFill>
                <a:latin typeface="Calibri"/>
              </a:defRPr>
            </a:pPr>
            <a:r>
              <a:t>•  $45M class-action settlement</a:t>
            </a:r>
          </a:p>
        </p:txBody>
      </p:sp>
      <p:sp>
        <p:nvSpPr>
          <p:cNvPr id="13" name="TextBox 12"/>
          <p:cNvSpPr txBox="1"/>
          <p:nvPr/>
        </p:nvSpPr>
        <p:spPr>
          <a:xfrm>
            <a:off x="11155680" y="6400800"/>
            <a:ext cx="914400" cy="365760"/>
          </a:xfrm>
          <a:prstGeom prst="rect">
            <a:avLst/>
          </a:prstGeom>
          <a:noFill/>
        </p:spPr>
        <p:txBody>
          <a:bodyPr wrap="square">
            <a:spAutoFit/>
          </a:bodyPr>
          <a:lstStyle/>
          <a:p>
            <a:pPr algn="r">
              <a:lnSpc>
                <a:spcPts val="1200"/>
              </a:lnSpc>
              <a:spcBef>
                <a:spcPts val="0"/>
              </a:spcBef>
              <a:spcAft>
                <a:spcPts val="0"/>
              </a:spcAft>
              <a:defRPr sz="1000" b="0">
                <a:solidFill>
                  <a:srgbClr val="999999"/>
                </a:solidFill>
                <a:latin typeface="Calibri"/>
              </a:defRPr>
            </a:pPr>
            <a: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64008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PRESENTATION OVERVIEW</a:t>
            </a:r>
          </a:p>
        </p:txBody>
      </p:sp>
      <p:sp>
        <p:nvSpPr>
          <p:cNvPr id="4" name="TextBox 3"/>
          <p:cNvSpPr txBox="1"/>
          <p:nvPr/>
        </p:nvSpPr>
        <p:spPr>
          <a:xfrm>
            <a:off x="731520" y="914400"/>
            <a:ext cx="9144000" cy="640080"/>
          </a:xfrm>
          <a:prstGeom prst="rect">
            <a:avLst/>
          </a:prstGeom>
          <a:noFill/>
        </p:spPr>
        <p:txBody>
          <a:bodyPr wrap="square">
            <a:spAutoFit/>
          </a:bodyPr>
          <a:lstStyle/>
          <a:p>
            <a:pPr algn="l">
              <a:lnSpc>
                <a:spcPts val="4320"/>
              </a:lnSpc>
              <a:spcBef>
                <a:spcPts val="0"/>
              </a:spcBef>
              <a:spcAft>
                <a:spcPts val="0"/>
              </a:spcAft>
              <a:defRPr sz="3600" b="1">
                <a:solidFill>
                  <a:srgbClr val="FFFFFF"/>
                </a:solidFill>
                <a:latin typeface="Calibri"/>
              </a:defRPr>
            </a:pPr>
            <a:r>
              <a:t>Agenda</a:t>
            </a:r>
          </a:p>
        </p:txBody>
      </p:sp>
      <p:sp>
        <p:nvSpPr>
          <p:cNvPr id="5" name="Rectangle 4"/>
          <p:cNvSpPr/>
          <p:nvPr/>
        </p:nvSpPr>
        <p:spPr>
          <a:xfrm>
            <a:off x="731520" y="1645920"/>
            <a:ext cx="228600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03120"/>
            <a:ext cx="457200" cy="36576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01</a:t>
            </a:r>
          </a:p>
        </p:txBody>
      </p:sp>
      <p:sp>
        <p:nvSpPr>
          <p:cNvPr id="7" name="TextBox 6"/>
          <p:cNvSpPr txBox="1"/>
          <p:nvPr/>
        </p:nvSpPr>
        <p:spPr>
          <a:xfrm>
            <a:off x="1188720" y="2103120"/>
            <a:ext cx="2286000" cy="365760"/>
          </a:xfrm>
          <a:prstGeom prst="rect">
            <a:avLst/>
          </a:prstGeom>
          <a:noFill/>
        </p:spPr>
        <p:txBody>
          <a:bodyPr wrap="square">
            <a:spAutoFit/>
          </a:bodyPr>
          <a:lstStyle/>
          <a:p>
            <a:pPr algn="l">
              <a:lnSpc>
                <a:spcPts val="1680"/>
              </a:lnSpc>
              <a:spcBef>
                <a:spcPts val="0"/>
              </a:spcBef>
              <a:spcAft>
                <a:spcPts val="0"/>
              </a:spcAft>
              <a:defRPr sz="1400" b="1">
                <a:solidFill>
                  <a:srgbClr val="FFFFFF"/>
                </a:solidFill>
                <a:latin typeface="Calibri"/>
              </a:defRPr>
            </a:pPr>
            <a:r>
              <a:t>Background &amp; Summary</a:t>
            </a:r>
          </a:p>
        </p:txBody>
      </p:sp>
      <p:sp>
        <p:nvSpPr>
          <p:cNvPr id="8" name="TextBox 7"/>
          <p:cNvSpPr txBox="1"/>
          <p:nvPr/>
        </p:nvSpPr>
        <p:spPr>
          <a:xfrm>
            <a:off x="1188720" y="2304288"/>
            <a:ext cx="4114800" cy="274320"/>
          </a:xfrm>
          <a:prstGeom prst="rect">
            <a:avLst/>
          </a:prstGeom>
          <a:noFill/>
        </p:spPr>
        <p:txBody>
          <a:bodyPr wrap="square">
            <a:spAutoFit/>
          </a:bodyPr>
          <a:lstStyle/>
          <a:p>
            <a:pPr algn="l">
              <a:lnSpc>
                <a:spcPts val="1200"/>
              </a:lnSpc>
              <a:spcBef>
                <a:spcPts val="0"/>
              </a:spcBef>
              <a:spcAft>
                <a:spcPts val="0"/>
              </a:spcAft>
              <a:defRPr sz="1000" b="0">
                <a:solidFill>
                  <a:srgbClr val="999999"/>
                </a:solidFill>
                <a:latin typeface="Calibri"/>
              </a:defRPr>
            </a:pPr>
            <a:r>
              <a:t>Overview of MGM Resorts and the incident</a:t>
            </a:r>
          </a:p>
        </p:txBody>
      </p:sp>
      <p:sp>
        <p:nvSpPr>
          <p:cNvPr id="9" name="TextBox 8"/>
          <p:cNvSpPr txBox="1"/>
          <p:nvPr/>
        </p:nvSpPr>
        <p:spPr>
          <a:xfrm>
            <a:off x="731520" y="2542032"/>
            <a:ext cx="457200" cy="36576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02</a:t>
            </a:r>
          </a:p>
        </p:txBody>
      </p:sp>
      <p:sp>
        <p:nvSpPr>
          <p:cNvPr id="10" name="TextBox 9"/>
          <p:cNvSpPr txBox="1"/>
          <p:nvPr/>
        </p:nvSpPr>
        <p:spPr>
          <a:xfrm>
            <a:off x="1188720" y="2542032"/>
            <a:ext cx="2286000" cy="365760"/>
          </a:xfrm>
          <a:prstGeom prst="rect">
            <a:avLst/>
          </a:prstGeom>
          <a:noFill/>
        </p:spPr>
        <p:txBody>
          <a:bodyPr wrap="square">
            <a:spAutoFit/>
          </a:bodyPr>
          <a:lstStyle/>
          <a:p>
            <a:pPr algn="l">
              <a:lnSpc>
                <a:spcPts val="1680"/>
              </a:lnSpc>
              <a:spcBef>
                <a:spcPts val="0"/>
              </a:spcBef>
              <a:spcAft>
                <a:spcPts val="0"/>
              </a:spcAft>
              <a:defRPr sz="1400" b="1">
                <a:solidFill>
                  <a:srgbClr val="FFFFFF"/>
                </a:solidFill>
                <a:latin typeface="Calibri"/>
              </a:defRPr>
            </a:pPr>
            <a:r>
              <a:t>Key Parties Involved</a:t>
            </a:r>
          </a:p>
        </p:txBody>
      </p:sp>
      <p:sp>
        <p:nvSpPr>
          <p:cNvPr id="11" name="TextBox 10"/>
          <p:cNvSpPr txBox="1"/>
          <p:nvPr/>
        </p:nvSpPr>
        <p:spPr>
          <a:xfrm>
            <a:off x="1188720" y="2743200"/>
            <a:ext cx="4114800" cy="274320"/>
          </a:xfrm>
          <a:prstGeom prst="rect">
            <a:avLst/>
          </a:prstGeom>
          <a:noFill/>
        </p:spPr>
        <p:txBody>
          <a:bodyPr wrap="square">
            <a:spAutoFit/>
          </a:bodyPr>
          <a:lstStyle/>
          <a:p>
            <a:pPr algn="l">
              <a:lnSpc>
                <a:spcPts val="1200"/>
              </a:lnSpc>
              <a:spcBef>
                <a:spcPts val="0"/>
              </a:spcBef>
              <a:spcAft>
                <a:spcPts val="0"/>
              </a:spcAft>
              <a:defRPr sz="1000" b="0">
                <a:solidFill>
                  <a:srgbClr val="999999"/>
                </a:solidFill>
                <a:latin typeface="Calibri"/>
              </a:defRPr>
            </a:pPr>
            <a:r>
              <a:t>Threat actors, victims, and responders</a:t>
            </a:r>
          </a:p>
        </p:txBody>
      </p:sp>
      <p:sp>
        <p:nvSpPr>
          <p:cNvPr id="12" name="TextBox 11"/>
          <p:cNvSpPr txBox="1"/>
          <p:nvPr/>
        </p:nvSpPr>
        <p:spPr>
          <a:xfrm>
            <a:off x="731520" y="2980944"/>
            <a:ext cx="457200" cy="36576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03</a:t>
            </a:r>
          </a:p>
        </p:txBody>
      </p:sp>
      <p:sp>
        <p:nvSpPr>
          <p:cNvPr id="13" name="TextBox 12"/>
          <p:cNvSpPr txBox="1"/>
          <p:nvPr/>
        </p:nvSpPr>
        <p:spPr>
          <a:xfrm>
            <a:off x="1188720" y="2980944"/>
            <a:ext cx="2286000" cy="365760"/>
          </a:xfrm>
          <a:prstGeom prst="rect">
            <a:avLst/>
          </a:prstGeom>
          <a:noFill/>
        </p:spPr>
        <p:txBody>
          <a:bodyPr wrap="square">
            <a:spAutoFit/>
          </a:bodyPr>
          <a:lstStyle/>
          <a:p>
            <a:pPr algn="l">
              <a:lnSpc>
                <a:spcPts val="1680"/>
              </a:lnSpc>
              <a:spcBef>
                <a:spcPts val="0"/>
              </a:spcBef>
              <a:spcAft>
                <a:spcPts val="0"/>
              </a:spcAft>
              <a:defRPr sz="1400" b="1">
                <a:solidFill>
                  <a:srgbClr val="FFFFFF"/>
                </a:solidFill>
                <a:latin typeface="Calibri"/>
              </a:defRPr>
            </a:pPr>
            <a:r>
              <a:t>What Happened</a:t>
            </a:r>
          </a:p>
        </p:txBody>
      </p:sp>
      <p:sp>
        <p:nvSpPr>
          <p:cNvPr id="14" name="TextBox 13"/>
          <p:cNvSpPr txBox="1"/>
          <p:nvPr/>
        </p:nvSpPr>
        <p:spPr>
          <a:xfrm>
            <a:off x="1188720" y="3182112"/>
            <a:ext cx="4114800" cy="274320"/>
          </a:xfrm>
          <a:prstGeom prst="rect">
            <a:avLst/>
          </a:prstGeom>
          <a:noFill/>
        </p:spPr>
        <p:txBody>
          <a:bodyPr wrap="square">
            <a:spAutoFit/>
          </a:bodyPr>
          <a:lstStyle/>
          <a:p>
            <a:pPr algn="l">
              <a:lnSpc>
                <a:spcPts val="1200"/>
              </a:lnSpc>
              <a:spcBef>
                <a:spcPts val="0"/>
              </a:spcBef>
              <a:spcAft>
                <a:spcPts val="0"/>
              </a:spcAft>
              <a:defRPr sz="1000" b="0">
                <a:solidFill>
                  <a:srgbClr val="999999"/>
                </a:solidFill>
                <a:latin typeface="Calibri"/>
              </a:defRPr>
            </a:pPr>
            <a:r>
              <a:t>Detailed attack timeline and methodology</a:t>
            </a:r>
          </a:p>
        </p:txBody>
      </p:sp>
      <p:sp>
        <p:nvSpPr>
          <p:cNvPr id="15" name="TextBox 14"/>
          <p:cNvSpPr txBox="1"/>
          <p:nvPr/>
        </p:nvSpPr>
        <p:spPr>
          <a:xfrm>
            <a:off x="731520" y="3419856"/>
            <a:ext cx="457200" cy="36576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04</a:t>
            </a:r>
          </a:p>
        </p:txBody>
      </p:sp>
      <p:sp>
        <p:nvSpPr>
          <p:cNvPr id="16" name="TextBox 15"/>
          <p:cNvSpPr txBox="1"/>
          <p:nvPr/>
        </p:nvSpPr>
        <p:spPr>
          <a:xfrm>
            <a:off x="1188720" y="3419856"/>
            <a:ext cx="2286000" cy="365760"/>
          </a:xfrm>
          <a:prstGeom prst="rect">
            <a:avLst/>
          </a:prstGeom>
          <a:noFill/>
        </p:spPr>
        <p:txBody>
          <a:bodyPr wrap="square">
            <a:spAutoFit/>
          </a:bodyPr>
          <a:lstStyle/>
          <a:p>
            <a:pPr algn="l">
              <a:lnSpc>
                <a:spcPts val="1680"/>
              </a:lnSpc>
              <a:spcBef>
                <a:spcPts val="0"/>
              </a:spcBef>
              <a:spcAft>
                <a:spcPts val="0"/>
              </a:spcAft>
              <a:defRPr sz="1400" b="1">
                <a:solidFill>
                  <a:srgbClr val="FFFFFF"/>
                </a:solidFill>
                <a:latin typeface="Calibri"/>
              </a:defRPr>
            </a:pPr>
            <a:r>
              <a:t>The Attack Flow</a:t>
            </a:r>
          </a:p>
        </p:txBody>
      </p:sp>
      <p:sp>
        <p:nvSpPr>
          <p:cNvPr id="17" name="TextBox 16"/>
          <p:cNvSpPr txBox="1"/>
          <p:nvPr/>
        </p:nvSpPr>
        <p:spPr>
          <a:xfrm>
            <a:off x="1188720" y="3621024"/>
            <a:ext cx="4114800" cy="274320"/>
          </a:xfrm>
          <a:prstGeom prst="rect">
            <a:avLst/>
          </a:prstGeom>
          <a:noFill/>
        </p:spPr>
        <p:txBody>
          <a:bodyPr wrap="square">
            <a:spAutoFit/>
          </a:bodyPr>
          <a:lstStyle/>
          <a:p>
            <a:pPr algn="l">
              <a:lnSpc>
                <a:spcPts val="1200"/>
              </a:lnSpc>
              <a:spcBef>
                <a:spcPts val="0"/>
              </a:spcBef>
              <a:spcAft>
                <a:spcPts val="0"/>
              </a:spcAft>
              <a:defRPr sz="1000" b="0">
                <a:solidFill>
                  <a:srgbClr val="999999"/>
                </a:solidFill>
                <a:latin typeface="Calibri"/>
              </a:defRPr>
            </a:pPr>
            <a:r>
              <a:t>Technical breakdown of the cyberattack</a:t>
            </a:r>
          </a:p>
        </p:txBody>
      </p:sp>
      <p:sp>
        <p:nvSpPr>
          <p:cNvPr id="18" name="TextBox 17"/>
          <p:cNvSpPr txBox="1"/>
          <p:nvPr/>
        </p:nvSpPr>
        <p:spPr>
          <a:xfrm>
            <a:off x="731520" y="3858768"/>
            <a:ext cx="457200" cy="36576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05</a:t>
            </a:r>
          </a:p>
        </p:txBody>
      </p:sp>
      <p:sp>
        <p:nvSpPr>
          <p:cNvPr id="19" name="TextBox 18"/>
          <p:cNvSpPr txBox="1"/>
          <p:nvPr/>
        </p:nvSpPr>
        <p:spPr>
          <a:xfrm>
            <a:off x="1188720" y="3858768"/>
            <a:ext cx="2286000" cy="365760"/>
          </a:xfrm>
          <a:prstGeom prst="rect">
            <a:avLst/>
          </a:prstGeom>
          <a:noFill/>
        </p:spPr>
        <p:txBody>
          <a:bodyPr wrap="square">
            <a:spAutoFit/>
          </a:bodyPr>
          <a:lstStyle/>
          <a:p>
            <a:pPr algn="l">
              <a:lnSpc>
                <a:spcPts val="1680"/>
              </a:lnSpc>
              <a:spcBef>
                <a:spcPts val="0"/>
              </a:spcBef>
              <a:spcAft>
                <a:spcPts val="0"/>
              </a:spcAft>
              <a:defRPr sz="1400" b="1">
                <a:solidFill>
                  <a:srgbClr val="FFFFFF"/>
                </a:solidFill>
                <a:latin typeface="Calibri"/>
              </a:defRPr>
            </a:pPr>
            <a:r>
              <a:t>Why It Became Important</a:t>
            </a:r>
          </a:p>
        </p:txBody>
      </p:sp>
      <p:sp>
        <p:nvSpPr>
          <p:cNvPr id="20" name="TextBox 19"/>
          <p:cNvSpPr txBox="1"/>
          <p:nvPr/>
        </p:nvSpPr>
        <p:spPr>
          <a:xfrm>
            <a:off x="1188720" y="4059936"/>
            <a:ext cx="4114800" cy="274320"/>
          </a:xfrm>
          <a:prstGeom prst="rect">
            <a:avLst/>
          </a:prstGeom>
          <a:noFill/>
        </p:spPr>
        <p:txBody>
          <a:bodyPr wrap="square">
            <a:spAutoFit/>
          </a:bodyPr>
          <a:lstStyle/>
          <a:p>
            <a:pPr algn="l">
              <a:lnSpc>
                <a:spcPts val="1200"/>
              </a:lnSpc>
              <a:spcBef>
                <a:spcPts val="0"/>
              </a:spcBef>
              <a:spcAft>
                <a:spcPts val="0"/>
              </a:spcAft>
              <a:defRPr sz="1000" b="0">
                <a:solidFill>
                  <a:srgbClr val="999999"/>
                </a:solidFill>
                <a:latin typeface="Calibri"/>
              </a:defRPr>
            </a:pPr>
            <a:r>
              <a:t>Scale and significance of the breach</a:t>
            </a:r>
          </a:p>
        </p:txBody>
      </p:sp>
      <p:sp>
        <p:nvSpPr>
          <p:cNvPr id="21" name="TextBox 20"/>
          <p:cNvSpPr txBox="1"/>
          <p:nvPr/>
        </p:nvSpPr>
        <p:spPr>
          <a:xfrm>
            <a:off x="5943600" y="2103120"/>
            <a:ext cx="457200" cy="36576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06</a:t>
            </a:r>
          </a:p>
        </p:txBody>
      </p:sp>
      <p:sp>
        <p:nvSpPr>
          <p:cNvPr id="22" name="TextBox 21"/>
          <p:cNvSpPr txBox="1"/>
          <p:nvPr/>
        </p:nvSpPr>
        <p:spPr>
          <a:xfrm>
            <a:off x="6400800" y="2103120"/>
            <a:ext cx="2286000" cy="365760"/>
          </a:xfrm>
          <a:prstGeom prst="rect">
            <a:avLst/>
          </a:prstGeom>
          <a:noFill/>
        </p:spPr>
        <p:txBody>
          <a:bodyPr wrap="square">
            <a:spAutoFit/>
          </a:bodyPr>
          <a:lstStyle/>
          <a:p>
            <a:pPr algn="l">
              <a:lnSpc>
                <a:spcPts val="1680"/>
              </a:lnSpc>
              <a:spcBef>
                <a:spcPts val="0"/>
              </a:spcBef>
              <a:spcAft>
                <a:spcPts val="0"/>
              </a:spcAft>
              <a:defRPr sz="1400" b="1">
                <a:solidFill>
                  <a:srgbClr val="FFFFFF"/>
                </a:solidFill>
                <a:latin typeface="Calibri"/>
              </a:defRPr>
            </a:pPr>
            <a:r>
              <a:t>Cybersecurity Issues</a:t>
            </a:r>
          </a:p>
        </p:txBody>
      </p:sp>
      <p:sp>
        <p:nvSpPr>
          <p:cNvPr id="23" name="TextBox 22"/>
          <p:cNvSpPr txBox="1"/>
          <p:nvPr/>
        </p:nvSpPr>
        <p:spPr>
          <a:xfrm>
            <a:off x="6400800" y="2304288"/>
            <a:ext cx="4114800" cy="274320"/>
          </a:xfrm>
          <a:prstGeom prst="rect">
            <a:avLst/>
          </a:prstGeom>
          <a:noFill/>
        </p:spPr>
        <p:txBody>
          <a:bodyPr wrap="square">
            <a:spAutoFit/>
          </a:bodyPr>
          <a:lstStyle/>
          <a:p>
            <a:pPr algn="l">
              <a:lnSpc>
                <a:spcPts val="1200"/>
              </a:lnSpc>
              <a:spcBef>
                <a:spcPts val="0"/>
              </a:spcBef>
              <a:spcAft>
                <a:spcPts val="0"/>
              </a:spcAft>
              <a:defRPr sz="1000" b="0">
                <a:solidFill>
                  <a:srgbClr val="999999"/>
                </a:solidFill>
                <a:latin typeface="Calibri"/>
              </a:defRPr>
            </a:pPr>
            <a:r>
              <a:t>Security, privacy, and ethical concerns</a:t>
            </a:r>
          </a:p>
        </p:txBody>
      </p:sp>
      <p:sp>
        <p:nvSpPr>
          <p:cNvPr id="24" name="TextBox 23"/>
          <p:cNvSpPr txBox="1"/>
          <p:nvPr/>
        </p:nvSpPr>
        <p:spPr>
          <a:xfrm>
            <a:off x="5943600" y="2542032"/>
            <a:ext cx="457200" cy="36576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07</a:t>
            </a:r>
          </a:p>
        </p:txBody>
      </p:sp>
      <p:sp>
        <p:nvSpPr>
          <p:cNvPr id="25" name="TextBox 24"/>
          <p:cNvSpPr txBox="1"/>
          <p:nvPr/>
        </p:nvSpPr>
        <p:spPr>
          <a:xfrm>
            <a:off x="6400800" y="2542032"/>
            <a:ext cx="2286000" cy="365760"/>
          </a:xfrm>
          <a:prstGeom prst="rect">
            <a:avLst/>
          </a:prstGeom>
          <a:noFill/>
        </p:spPr>
        <p:txBody>
          <a:bodyPr wrap="square">
            <a:spAutoFit/>
          </a:bodyPr>
          <a:lstStyle/>
          <a:p>
            <a:pPr algn="l">
              <a:lnSpc>
                <a:spcPts val="1680"/>
              </a:lnSpc>
              <a:spcBef>
                <a:spcPts val="0"/>
              </a:spcBef>
              <a:spcAft>
                <a:spcPts val="0"/>
              </a:spcAft>
              <a:defRPr sz="1400" b="1">
                <a:solidFill>
                  <a:srgbClr val="FFFFFF"/>
                </a:solidFill>
                <a:latin typeface="Calibri"/>
              </a:defRPr>
            </a:pPr>
            <a:r>
              <a:t>Violated Rules &amp; Laws</a:t>
            </a:r>
          </a:p>
        </p:txBody>
      </p:sp>
      <p:sp>
        <p:nvSpPr>
          <p:cNvPr id="26" name="TextBox 25"/>
          <p:cNvSpPr txBox="1"/>
          <p:nvPr/>
        </p:nvSpPr>
        <p:spPr>
          <a:xfrm>
            <a:off x="6400800" y="2743200"/>
            <a:ext cx="4114800" cy="274320"/>
          </a:xfrm>
          <a:prstGeom prst="rect">
            <a:avLst/>
          </a:prstGeom>
          <a:noFill/>
        </p:spPr>
        <p:txBody>
          <a:bodyPr wrap="square">
            <a:spAutoFit/>
          </a:bodyPr>
          <a:lstStyle/>
          <a:p>
            <a:pPr algn="l">
              <a:lnSpc>
                <a:spcPts val="1200"/>
              </a:lnSpc>
              <a:spcBef>
                <a:spcPts val="0"/>
              </a:spcBef>
              <a:spcAft>
                <a:spcPts val="0"/>
              </a:spcAft>
              <a:defRPr sz="1000" b="0">
                <a:solidFill>
                  <a:srgbClr val="999999"/>
                </a:solidFill>
                <a:latin typeface="Calibri"/>
              </a:defRPr>
            </a:pPr>
            <a:r>
              <a:t>Legal and regulatory frameworks breached</a:t>
            </a:r>
          </a:p>
        </p:txBody>
      </p:sp>
      <p:sp>
        <p:nvSpPr>
          <p:cNvPr id="27" name="TextBox 26"/>
          <p:cNvSpPr txBox="1"/>
          <p:nvPr/>
        </p:nvSpPr>
        <p:spPr>
          <a:xfrm>
            <a:off x="5943600" y="2980944"/>
            <a:ext cx="457200" cy="36576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08</a:t>
            </a:r>
          </a:p>
        </p:txBody>
      </p:sp>
      <p:sp>
        <p:nvSpPr>
          <p:cNvPr id="28" name="TextBox 27"/>
          <p:cNvSpPr txBox="1"/>
          <p:nvPr/>
        </p:nvSpPr>
        <p:spPr>
          <a:xfrm>
            <a:off x="6400800" y="2980944"/>
            <a:ext cx="2286000" cy="365760"/>
          </a:xfrm>
          <a:prstGeom prst="rect">
            <a:avLst/>
          </a:prstGeom>
          <a:noFill/>
        </p:spPr>
        <p:txBody>
          <a:bodyPr wrap="square">
            <a:spAutoFit/>
          </a:bodyPr>
          <a:lstStyle/>
          <a:p>
            <a:pPr algn="l">
              <a:lnSpc>
                <a:spcPts val="1680"/>
              </a:lnSpc>
              <a:spcBef>
                <a:spcPts val="0"/>
              </a:spcBef>
              <a:spcAft>
                <a:spcPts val="0"/>
              </a:spcAft>
              <a:defRPr sz="1400" b="1">
                <a:solidFill>
                  <a:srgbClr val="FFFFFF"/>
                </a:solidFill>
                <a:latin typeface="Calibri"/>
              </a:defRPr>
            </a:pPr>
            <a:r>
              <a:t>Consequences &amp; Impact</a:t>
            </a:r>
          </a:p>
        </p:txBody>
      </p:sp>
      <p:sp>
        <p:nvSpPr>
          <p:cNvPr id="29" name="TextBox 28"/>
          <p:cNvSpPr txBox="1"/>
          <p:nvPr/>
        </p:nvSpPr>
        <p:spPr>
          <a:xfrm>
            <a:off x="6400800" y="3182112"/>
            <a:ext cx="4114800" cy="274320"/>
          </a:xfrm>
          <a:prstGeom prst="rect">
            <a:avLst/>
          </a:prstGeom>
          <a:noFill/>
        </p:spPr>
        <p:txBody>
          <a:bodyPr wrap="square">
            <a:spAutoFit/>
          </a:bodyPr>
          <a:lstStyle/>
          <a:p>
            <a:pPr algn="l">
              <a:lnSpc>
                <a:spcPts val="1200"/>
              </a:lnSpc>
              <a:spcBef>
                <a:spcPts val="0"/>
              </a:spcBef>
              <a:spcAft>
                <a:spcPts val="0"/>
              </a:spcAft>
              <a:defRPr sz="1000" b="0">
                <a:solidFill>
                  <a:srgbClr val="999999"/>
                </a:solidFill>
                <a:latin typeface="Calibri"/>
              </a:defRPr>
            </a:pPr>
            <a:r>
              <a:t>Financial, operational, and reputational damage</a:t>
            </a:r>
          </a:p>
        </p:txBody>
      </p:sp>
      <p:sp>
        <p:nvSpPr>
          <p:cNvPr id="30" name="TextBox 29"/>
          <p:cNvSpPr txBox="1"/>
          <p:nvPr/>
        </p:nvSpPr>
        <p:spPr>
          <a:xfrm>
            <a:off x="5943600" y="3419856"/>
            <a:ext cx="457200" cy="36576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09</a:t>
            </a:r>
          </a:p>
        </p:txBody>
      </p:sp>
      <p:sp>
        <p:nvSpPr>
          <p:cNvPr id="31" name="TextBox 30"/>
          <p:cNvSpPr txBox="1"/>
          <p:nvPr/>
        </p:nvSpPr>
        <p:spPr>
          <a:xfrm>
            <a:off x="6400800" y="3419856"/>
            <a:ext cx="2286000" cy="365760"/>
          </a:xfrm>
          <a:prstGeom prst="rect">
            <a:avLst/>
          </a:prstGeom>
          <a:noFill/>
        </p:spPr>
        <p:txBody>
          <a:bodyPr wrap="square">
            <a:spAutoFit/>
          </a:bodyPr>
          <a:lstStyle/>
          <a:p>
            <a:pPr algn="l">
              <a:lnSpc>
                <a:spcPts val="1680"/>
              </a:lnSpc>
              <a:spcBef>
                <a:spcPts val="0"/>
              </a:spcBef>
              <a:spcAft>
                <a:spcPts val="0"/>
              </a:spcAft>
              <a:defRPr sz="1400" b="1">
                <a:solidFill>
                  <a:srgbClr val="FFFFFF"/>
                </a:solidFill>
                <a:latin typeface="Calibri"/>
              </a:defRPr>
            </a:pPr>
            <a:r>
              <a:t>Personal Opinion</a:t>
            </a:r>
          </a:p>
        </p:txBody>
      </p:sp>
      <p:sp>
        <p:nvSpPr>
          <p:cNvPr id="32" name="TextBox 31"/>
          <p:cNvSpPr txBox="1"/>
          <p:nvPr/>
        </p:nvSpPr>
        <p:spPr>
          <a:xfrm>
            <a:off x="6400800" y="3621024"/>
            <a:ext cx="4114800" cy="274320"/>
          </a:xfrm>
          <a:prstGeom prst="rect">
            <a:avLst/>
          </a:prstGeom>
          <a:noFill/>
        </p:spPr>
        <p:txBody>
          <a:bodyPr wrap="square">
            <a:spAutoFit/>
          </a:bodyPr>
          <a:lstStyle/>
          <a:p>
            <a:pPr algn="l">
              <a:lnSpc>
                <a:spcPts val="1200"/>
              </a:lnSpc>
              <a:spcBef>
                <a:spcPts val="0"/>
              </a:spcBef>
              <a:spcAft>
                <a:spcPts val="0"/>
              </a:spcAft>
              <a:defRPr sz="1000" b="0">
                <a:solidFill>
                  <a:srgbClr val="999999"/>
                </a:solidFill>
                <a:latin typeface="Calibri"/>
              </a:defRPr>
            </a:pPr>
            <a:r>
              <a:t>Critical analysis and perspective</a:t>
            </a:r>
          </a:p>
        </p:txBody>
      </p:sp>
      <p:sp>
        <p:nvSpPr>
          <p:cNvPr id="33" name="TextBox 32"/>
          <p:cNvSpPr txBox="1"/>
          <p:nvPr/>
        </p:nvSpPr>
        <p:spPr>
          <a:xfrm>
            <a:off x="5943600" y="3858768"/>
            <a:ext cx="457200" cy="36576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10</a:t>
            </a:r>
          </a:p>
        </p:txBody>
      </p:sp>
      <p:sp>
        <p:nvSpPr>
          <p:cNvPr id="34" name="TextBox 33"/>
          <p:cNvSpPr txBox="1"/>
          <p:nvPr/>
        </p:nvSpPr>
        <p:spPr>
          <a:xfrm>
            <a:off x="6400800" y="3858768"/>
            <a:ext cx="2286000" cy="365760"/>
          </a:xfrm>
          <a:prstGeom prst="rect">
            <a:avLst/>
          </a:prstGeom>
          <a:noFill/>
        </p:spPr>
        <p:txBody>
          <a:bodyPr wrap="square">
            <a:spAutoFit/>
          </a:bodyPr>
          <a:lstStyle/>
          <a:p>
            <a:pPr algn="l">
              <a:lnSpc>
                <a:spcPts val="1680"/>
              </a:lnSpc>
              <a:spcBef>
                <a:spcPts val="0"/>
              </a:spcBef>
              <a:spcAft>
                <a:spcPts val="0"/>
              </a:spcAft>
              <a:defRPr sz="1400" b="1">
                <a:solidFill>
                  <a:srgbClr val="FFFFFF"/>
                </a:solidFill>
                <a:latin typeface="Calibri"/>
              </a:defRPr>
            </a:pPr>
            <a:r>
              <a:t>Lessons Learned</a:t>
            </a:r>
          </a:p>
        </p:txBody>
      </p:sp>
      <p:sp>
        <p:nvSpPr>
          <p:cNvPr id="35" name="TextBox 34"/>
          <p:cNvSpPr txBox="1"/>
          <p:nvPr/>
        </p:nvSpPr>
        <p:spPr>
          <a:xfrm>
            <a:off x="6400800" y="4059936"/>
            <a:ext cx="4114800" cy="274320"/>
          </a:xfrm>
          <a:prstGeom prst="rect">
            <a:avLst/>
          </a:prstGeom>
          <a:noFill/>
        </p:spPr>
        <p:txBody>
          <a:bodyPr wrap="square">
            <a:spAutoFit/>
          </a:bodyPr>
          <a:lstStyle/>
          <a:p>
            <a:pPr algn="l">
              <a:lnSpc>
                <a:spcPts val="1200"/>
              </a:lnSpc>
              <a:spcBef>
                <a:spcPts val="0"/>
              </a:spcBef>
              <a:spcAft>
                <a:spcPts val="0"/>
              </a:spcAft>
              <a:defRPr sz="1000" b="0">
                <a:solidFill>
                  <a:srgbClr val="999999"/>
                </a:solidFill>
                <a:latin typeface="Calibri"/>
              </a:defRPr>
            </a:pPr>
            <a:r>
              <a:t>Recommendations and takeaways</a:t>
            </a:r>
          </a:p>
        </p:txBody>
      </p:sp>
      <p:sp>
        <p:nvSpPr>
          <p:cNvPr id="36" name="TextBox 35"/>
          <p:cNvSpPr txBox="1"/>
          <p:nvPr/>
        </p:nvSpPr>
        <p:spPr>
          <a:xfrm>
            <a:off x="11155680" y="6400800"/>
            <a:ext cx="914400" cy="365760"/>
          </a:xfrm>
          <a:prstGeom prst="rect">
            <a:avLst/>
          </a:prstGeom>
          <a:noFill/>
        </p:spPr>
        <p:txBody>
          <a:bodyPr wrap="square">
            <a:spAutoFit/>
          </a:bodyPr>
          <a:lstStyle/>
          <a:p>
            <a:pPr algn="r">
              <a:lnSpc>
                <a:spcPts val="1200"/>
              </a:lnSpc>
              <a:spcBef>
                <a:spcPts val="0"/>
              </a:spcBef>
              <a:spcAft>
                <a:spcPts val="0"/>
              </a:spcAft>
              <a:defRPr sz="1000" b="0">
                <a:solidFill>
                  <a:srgbClr val="999999"/>
                </a:solidFill>
                <a:latin typeface="Calibri"/>
              </a:defRPr>
            </a:pPr>
            <a: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45720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01  BACKGROUND</a:t>
            </a:r>
          </a:p>
        </p:txBody>
      </p:sp>
      <p:sp>
        <p:nvSpPr>
          <p:cNvPr id="4" name="TextBox 3"/>
          <p:cNvSpPr txBox="1"/>
          <p:nvPr/>
        </p:nvSpPr>
        <p:spPr>
          <a:xfrm>
            <a:off x="731520" y="914400"/>
            <a:ext cx="9144000" cy="64008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Background &amp; Summary of the Incident</a:t>
            </a:r>
          </a:p>
        </p:txBody>
      </p:sp>
      <p:sp>
        <p:nvSpPr>
          <p:cNvPr id="5" name="Rectangle 4"/>
          <p:cNvSpPr/>
          <p:nvPr/>
        </p:nvSpPr>
        <p:spPr>
          <a:xfrm>
            <a:off x="731520" y="1645920"/>
            <a:ext cx="228600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03120"/>
            <a:ext cx="5029200" cy="411480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86000"/>
            <a:ext cx="4572000" cy="365760"/>
          </a:xfrm>
          <a:prstGeom prst="rect">
            <a:avLst/>
          </a:prstGeom>
          <a:noFill/>
        </p:spPr>
        <p:txBody>
          <a:bodyPr wrap="square">
            <a:spAutoFit/>
          </a:bodyPr>
          <a:lstStyle/>
          <a:p>
            <a:pPr algn="l">
              <a:lnSpc>
                <a:spcPts val="1439"/>
              </a:lnSpc>
              <a:spcBef>
                <a:spcPts val="0"/>
              </a:spcBef>
              <a:spcAft>
                <a:spcPts val="0"/>
              </a:spcAft>
              <a:defRPr sz="1200" b="1">
                <a:solidFill>
                  <a:srgbClr val="007BFF"/>
                </a:solidFill>
                <a:latin typeface="Calibri"/>
              </a:defRPr>
            </a:pPr>
            <a:r>
              <a:t>ABOUT MGM RESORTS INTERNATIONAL</a:t>
            </a:r>
          </a:p>
        </p:txBody>
      </p:sp>
      <p:sp>
        <p:nvSpPr>
          <p:cNvPr id="8" name="Rectangle 7"/>
          <p:cNvSpPr/>
          <p:nvPr/>
        </p:nvSpPr>
        <p:spPr>
          <a:xfrm>
            <a:off x="1005840" y="2651760"/>
            <a:ext cx="137160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834640"/>
            <a:ext cx="4389120" cy="3200400"/>
          </a:xfrm>
          <a:prstGeom prst="rect">
            <a:avLst/>
          </a:prstGeom>
          <a:noFill/>
        </p:spPr>
        <p:txBody>
          <a:bodyPr wrap="square">
            <a:spAutoFit/>
          </a:bodyPr>
          <a:lstStyle/>
          <a:p>
            <a:pPr algn="l">
              <a:lnSpc>
                <a:spcPts val="2210"/>
              </a:lnSpc>
              <a:spcAft>
                <a:spcPts val="600"/>
              </a:spcAft>
              <a:defRPr sz="1300">
                <a:solidFill>
                  <a:srgbClr val="CCCCCC"/>
                </a:solidFill>
                <a:latin typeface="Calibri"/>
              </a:defRPr>
            </a:pPr>
            <a:r>
              <a:t>•  Global hospitality and entertainment company</a:t>
            </a:r>
          </a:p>
          <a:p>
            <a:pPr algn="l">
              <a:lnSpc>
                <a:spcPts val="2210"/>
              </a:lnSpc>
              <a:spcAft>
                <a:spcPts val="600"/>
              </a:spcAft>
              <a:defRPr sz="1300">
                <a:solidFill>
                  <a:srgbClr val="CCCCCC"/>
                </a:solidFill>
                <a:latin typeface="Calibri"/>
              </a:defRPr>
            </a:pPr>
            <a:r>
              <a:t>•  Portfolio of 29 hotel and resort properties worldwide</a:t>
            </a:r>
          </a:p>
          <a:p>
            <a:pPr algn="l">
              <a:lnSpc>
                <a:spcPts val="2210"/>
              </a:lnSpc>
              <a:spcAft>
                <a:spcPts val="600"/>
              </a:spcAft>
              <a:defRPr sz="1300">
                <a:solidFill>
                  <a:srgbClr val="CCCCCC"/>
                </a:solidFill>
                <a:latin typeface="Calibri"/>
              </a:defRPr>
            </a:pPr>
            <a:r>
              <a:t>•  Iconic brands: Bellagio, MGM Grand, Mandalay Bay, Aria</a:t>
            </a:r>
          </a:p>
          <a:p>
            <a:pPr algn="l">
              <a:lnSpc>
                <a:spcPts val="2210"/>
              </a:lnSpc>
              <a:spcAft>
                <a:spcPts val="600"/>
              </a:spcAft>
              <a:defRPr sz="1300">
                <a:solidFill>
                  <a:srgbClr val="CCCCCC"/>
                </a:solidFill>
                <a:latin typeface="Calibri"/>
              </a:defRPr>
            </a:pPr>
            <a:r>
              <a:t>•  Operates 11 gaming and non-gaming resorts in Las Vegas</a:t>
            </a:r>
          </a:p>
          <a:p>
            <a:pPr algn="l">
              <a:lnSpc>
                <a:spcPts val="2210"/>
              </a:lnSpc>
              <a:spcAft>
                <a:spcPts val="600"/>
              </a:spcAft>
              <a:defRPr sz="1300">
                <a:solidFill>
                  <a:srgbClr val="CCCCCC"/>
                </a:solidFill>
                <a:latin typeface="Calibri"/>
              </a:defRPr>
            </a:pPr>
            <a:r>
              <a:t>•  One of the world's largest gambling and hospitality firms</a:t>
            </a:r>
          </a:p>
          <a:p>
            <a:pPr algn="l">
              <a:lnSpc>
                <a:spcPts val="2210"/>
              </a:lnSpc>
              <a:spcAft>
                <a:spcPts val="600"/>
              </a:spcAft>
              <a:defRPr sz="1300">
                <a:solidFill>
                  <a:srgbClr val="CCCCCC"/>
                </a:solidFill>
                <a:latin typeface="Calibri"/>
              </a:defRPr>
            </a:pPr>
            <a:r>
              <a:t>•  Publicly traded on NYSE (ticker: MGM)</a:t>
            </a:r>
          </a:p>
        </p:txBody>
      </p:sp>
      <p:sp>
        <p:nvSpPr>
          <p:cNvPr id="10" name="Rounded Rectangle 9"/>
          <p:cNvSpPr/>
          <p:nvPr/>
        </p:nvSpPr>
        <p:spPr>
          <a:xfrm>
            <a:off x="6217920" y="2103120"/>
            <a:ext cx="5303520" cy="411480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286000"/>
            <a:ext cx="4572000" cy="365760"/>
          </a:xfrm>
          <a:prstGeom prst="rect">
            <a:avLst/>
          </a:prstGeom>
          <a:noFill/>
        </p:spPr>
        <p:txBody>
          <a:bodyPr wrap="square">
            <a:spAutoFit/>
          </a:bodyPr>
          <a:lstStyle/>
          <a:p>
            <a:pPr algn="l">
              <a:lnSpc>
                <a:spcPts val="1439"/>
              </a:lnSpc>
              <a:spcBef>
                <a:spcPts val="0"/>
              </a:spcBef>
              <a:spcAft>
                <a:spcPts val="0"/>
              </a:spcAft>
              <a:defRPr sz="1200" b="1">
                <a:solidFill>
                  <a:srgbClr val="E83E3E"/>
                </a:solidFill>
                <a:latin typeface="Calibri"/>
              </a:defRPr>
            </a:pPr>
            <a:r>
              <a:t>THE INCIDENT  —  SEPTEMBER 2023</a:t>
            </a:r>
          </a:p>
        </p:txBody>
      </p:sp>
      <p:sp>
        <p:nvSpPr>
          <p:cNvPr id="12" name="Rectangle 11"/>
          <p:cNvSpPr/>
          <p:nvPr/>
        </p:nvSpPr>
        <p:spPr>
          <a:xfrm>
            <a:off x="6492240" y="2651760"/>
            <a:ext cx="1371600" cy="508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834640"/>
            <a:ext cx="4754880" cy="3200400"/>
          </a:xfrm>
          <a:prstGeom prst="rect">
            <a:avLst/>
          </a:prstGeom>
          <a:noFill/>
        </p:spPr>
        <p:txBody>
          <a:bodyPr wrap="square">
            <a:spAutoFit/>
          </a:bodyPr>
          <a:lstStyle/>
          <a:p>
            <a:pPr algn="l">
              <a:lnSpc>
                <a:spcPts val="2400"/>
              </a:lnSpc>
              <a:spcAft>
                <a:spcPts val="400"/>
              </a:spcAft>
              <a:defRPr sz="1300" b="0">
                <a:solidFill>
                  <a:srgbClr val="CCCCCC"/>
                </a:solidFill>
                <a:latin typeface="Calibri"/>
              </a:defRPr>
            </a:pPr>
            <a:r>
              <a:t>On September 11, 2023, MGM Resorts publicly disclosed that a "cybersecurity incident" was impacting its systems.</a:t>
            </a:r>
          </a:p>
          <a:p>
            <a:pPr algn="l">
              <a:lnSpc>
                <a:spcPts val="2400"/>
              </a:lnSpc>
              <a:spcAft>
                <a:spcPts val="400"/>
              </a:spcAft>
              <a:defRPr sz="600" b="0">
                <a:solidFill>
                  <a:srgbClr val="1E1E3A"/>
                </a:solidFill>
                <a:latin typeface="Calibri"/>
              </a:defRPr>
            </a:pPr>
          </a:p>
          <a:p>
            <a:pPr algn="l">
              <a:lnSpc>
                <a:spcPts val="2400"/>
              </a:lnSpc>
              <a:spcAft>
                <a:spcPts val="400"/>
              </a:spcAft>
              <a:defRPr sz="1300" b="0">
                <a:solidFill>
                  <a:srgbClr val="CCCCCC"/>
                </a:solidFill>
                <a:latin typeface="Calibri"/>
              </a:defRPr>
            </a:pPr>
            <a:r>
              <a:t>The attack was orchestrated by two cybercriminal groups: Scattered Spider and ALPHV/BlackCat. Using social engineering, they infiltrated MGM's network, exfiltrated 6 TB of customer data, and deployed ransomware that encrypted 100+ ESXi servers.</a:t>
            </a:r>
          </a:p>
          <a:p>
            <a:pPr algn="l">
              <a:lnSpc>
                <a:spcPts val="2400"/>
              </a:lnSpc>
              <a:spcAft>
                <a:spcPts val="400"/>
              </a:spcAft>
              <a:defRPr sz="600" b="0">
                <a:solidFill>
                  <a:srgbClr val="1E1E3A"/>
                </a:solidFill>
                <a:latin typeface="Calibri"/>
              </a:defRPr>
            </a:pPr>
          </a:p>
          <a:p>
            <a:pPr algn="l">
              <a:lnSpc>
                <a:spcPts val="2400"/>
              </a:lnSpc>
              <a:spcAft>
                <a:spcPts val="400"/>
              </a:spcAft>
              <a:defRPr sz="1300" b="1">
                <a:solidFill>
                  <a:srgbClr val="FFFFFF"/>
                </a:solidFill>
                <a:latin typeface="Calibri"/>
              </a:defRPr>
            </a:pPr>
            <a:r>
              <a:t>The result was a 10-day operational shutdown across all 29 properties, costing an estimated $100 million in losses.</a:t>
            </a:r>
          </a:p>
        </p:txBody>
      </p:sp>
      <p:sp>
        <p:nvSpPr>
          <p:cNvPr id="14" name="TextBox 13"/>
          <p:cNvSpPr txBox="1"/>
          <p:nvPr/>
        </p:nvSpPr>
        <p:spPr>
          <a:xfrm>
            <a:off x="11155680" y="6400800"/>
            <a:ext cx="914400" cy="365760"/>
          </a:xfrm>
          <a:prstGeom prst="rect">
            <a:avLst/>
          </a:prstGeom>
          <a:noFill/>
        </p:spPr>
        <p:txBody>
          <a:bodyPr wrap="square">
            <a:spAutoFit/>
          </a:bodyPr>
          <a:lstStyle/>
          <a:p>
            <a:pPr algn="r">
              <a:lnSpc>
                <a:spcPts val="1200"/>
              </a:lnSpc>
              <a:spcBef>
                <a:spcPts val="0"/>
              </a:spcBef>
              <a:spcAft>
                <a:spcPts val="0"/>
              </a:spcAft>
              <a:defRPr sz="1000" b="0">
                <a:solidFill>
                  <a:srgbClr val="999999"/>
                </a:solidFill>
                <a:latin typeface="Calibri"/>
              </a:defRPr>
            </a:pPr>
            <a: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45720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02  KEY PARTIES</a:t>
            </a:r>
          </a:p>
        </p:txBody>
      </p:sp>
      <p:sp>
        <p:nvSpPr>
          <p:cNvPr id="4" name="TextBox 3"/>
          <p:cNvSpPr txBox="1"/>
          <p:nvPr/>
        </p:nvSpPr>
        <p:spPr>
          <a:xfrm>
            <a:off x="731520" y="914400"/>
            <a:ext cx="9144000" cy="64008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Main People, Organizations &amp; Parties Involved</a:t>
            </a:r>
          </a:p>
        </p:txBody>
      </p:sp>
      <p:sp>
        <p:nvSpPr>
          <p:cNvPr id="5" name="Rectangle 4"/>
          <p:cNvSpPr/>
          <p:nvPr/>
        </p:nvSpPr>
        <p:spPr>
          <a:xfrm>
            <a:off x="731520" y="1645920"/>
            <a:ext cx="228600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03120"/>
            <a:ext cx="3383280" cy="438912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286000"/>
            <a:ext cx="2926080" cy="365760"/>
          </a:xfrm>
          <a:prstGeom prst="rect">
            <a:avLst/>
          </a:prstGeom>
          <a:noFill/>
        </p:spPr>
        <p:txBody>
          <a:bodyPr wrap="square">
            <a:spAutoFit/>
          </a:bodyPr>
          <a:lstStyle/>
          <a:p>
            <a:pPr algn="l">
              <a:lnSpc>
                <a:spcPts val="1439"/>
              </a:lnSpc>
              <a:spcBef>
                <a:spcPts val="0"/>
              </a:spcBef>
              <a:spcAft>
                <a:spcPts val="0"/>
              </a:spcAft>
              <a:defRPr sz="1200" b="1">
                <a:solidFill>
                  <a:srgbClr val="E83E3E"/>
                </a:solidFill>
                <a:latin typeface="Calibri"/>
              </a:defRPr>
            </a:pPr>
            <a:r>
              <a:t>THREAT ACTORS</a:t>
            </a:r>
          </a:p>
        </p:txBody>
      </p:sp>
      <p:sp>
        <p:nvSpPr>
          <p:cNvPr id="8" name="Rectangle 7"/>
          <p:cNvSpPr/>
          <p:nvPr/>
        </p:nvSpPr>
        <p:spPr>
          <a:xfrm>
            <a:off x="1005840" y="2651760"/>
            <a:ext cx="1097280" cy="508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834640"/>
            <a:ext cx="2926080" cy="3474720"/>
          </a:xfrm>
          <a:prstGeom prst="rect">
            <a:avLst/>
          </a:prstGeom>
          <a:noFill/>
        </p:spPr>
        <p:txBody>
          <a:bodyPr wrap="square">
            <a:spAutoFit/>
          </a:bodyPr>
          <a:lstStyle/>
          <a:p>
            <a:pPr algn="l">
              <a:lnSpc>
                <a:spcPts val="2240"/>
              </a:lnSpc>
              <a:spcAft>
                <a:spcPts val="400"/>
              </a:spcAft>
              <a:defRPr sz="1400" b="1">
                <a:solidFill>
                  <a:srgbClr val="FFB800"/>
                </a:solidFill>
                <a:latin typeface="Calibri"/>
              </a:defRPr>
            </a:pPr>
            <a:r>
              <a:t>Scattered Spider</a:t>
            </a:r>
          </a:p>
          <a:p>
            <a:pPr algn="l">
              <a:lnSpc>
                <a:spcPts val="2240"/>
              </a:lnSpc>
              <a:spcAft>
                <a:spcPts val="400"/>
              </a:spcAft>
              <a:defRPr sz="1000" b="0">
                <a:solidFill>
                  <a:srgbClr val="999999"/>
                </a:solidFill>
                <a:latin typeface="Calibri"/>
              </a:defRPr>
            </a:pPr>
            <a:r>
              <a:t>(UNC3944 / Storm-0875 / 0ktapus)</a:t>
            </a:r>
          </a:p>
          <a:p>
            <a:pPr algn="l">
              <a:lnSpc>
                <a:spcPts val="2240"/>
              </a:lnSpc>
              <a:spcAft>
                <a:spcPts val="400"/>
              </a:spcAft>
              <a:defRPr sz="1100" b="0">
                <a:solidFill>
                  <a:srgbClr val="CCCCCC"/>
                </a:solidFill>
                <a:latin typeface="Calibri"/>
              </a:defRPr>
            </a:pPr>
            <a:r>
              <a:t>• English-speaking threat group</a:t>
            </a:r>
          </a:p>
          <a:p>
            <a:pPr algn="l">
              <a:lnSpc>
                <a:spcPts val="2240"/>
              </a:lnSpc>
              <a:spcAft>
                <a:spcPts val="400"/>
              </a:spcAft>
              <a:defRPr sz="1100" b="0">
                <a:solidFill>
                  <a:srgbClr val="CCCCCC"/>
                </a:solidFill>
                <a:latin typeface="Calibri"/>
              </a:defRPr>
            </a:pPr>
            <a:r>
              <a:t>• Specializes in social engineering</a:t>
            </a:r>
          </a:p>
          <a:p>
            <a:pPr algn="l">
              <a:lnSpc>
                <a:spcPts val="2240"/>
              </a:lnSpc>
              <a:spcAft>
                <a:spcPts val="400"/>
              </a:spcAft>
              <a:defRPr sz="1100" b="0">
                <a:solidFill>
                  <a:srgbClr val="CCCCCC"/>
                </a:solidFill>
                <a:latin typeface="Calibri"/>
              </a:defRPr>
            </a:pPr>
            <a:r>
              <a:t>• Members believed to be in their early 20s</a:t>
            </a:r>
          </a:p>
          <a:p>
            <a:pPr algn="l">
              <a:lnSpc>
                <a:spcPts val="2240"/>
              </a:lnSpc>
              <a:spcAft>
                <a:spcPts val="400"/>
              </a:spcAft>
              <a:defRPr sz="1100" b="0">
                <a:solidFill>
                  <a:srgbClr val="CCCCCC"/>
                </a:solidFill>
                <a:latin typeface="Calibri"/>
              </a:defRPr>
            </a:pPr>
            <a:r>
              <a:t>• Active since 2022</a:t>
            </a:r>
          </a:p>
          <a:p>
            <a:pPr algn="l">
              <a:lnSpc>
                <a:spcPts val="2240"/>
              </a:lnSpc>
              <a:spcAft>
                <a:spcPts val="400"/>
              </a:spcAft>
              <a:defRPr sz="600" b="0">
                <a:solidFill>
                  <a:srgbClr val="1E1E3A"/>
                </a:solidFill>
                <a:latin typeface="Calibri"/>
              </a:defRPr>
            </a:pPr>
          </a:p>
          <a:p>
            <a:pPr algn="l">
              <a:lnSpc>
                <a:spcPts val="2240"/>
              </a:lnSpc>
              <a:spcAft>
                <a:spcPts val="400"/>
              </a:spcAft>
              <a:defRPr sz="1400" b="1">
                <a:solidFill>
                  <a:srgbClr val="FFB800"/>
                </a:solidFill>
                <a:latin typeface="Calibri"/>
              </a:defRPr>
            </a:pPr>
            <a:r>
              <a:t>ALPHV / BlackCat</a:t>
            </a:r>
          </a:p>
          <a:p>
            <a:pPr algn="l">
              <a:lnSpc>
                <a:spcPts val="2240"/>
              </a:lnSpc>
              <a:spcAft>
                <a:spcPts val="400"/>
              </a:spcAft>
              <a:defRPr sz="1100" b="0">
                <a:solidFill>
                  <a:srgbClr val="CCCCCC"/>
                </a:solidFill>
                <a:latin typeface="Calibri"/>
              </a:defRPr>
            </a:pPr>
            <a:r>
              <a:t>• Russia-based RaaS operation</a:t>
            </a:r>
          </a:p>
          <a:p>
            <a:pPr algn="l">
              <a:lnSpc>
                <a:spcPts val="2240"/>
              </a:lnSpc>
              <a:spcAft>
                <a:spcPts val="400"/>
              </a:spcAft>
              <a:defRPr sz="1100" b="0">
                <a:solidFill>
                  <a:srgbClr val="CCCCCC"/>
                </a:solidFill>
                <a:latin typeface="Calibri"/>
              </a:defRPr>
            </a:pPr>
            <a:r>
              <a:t>• Provided ransomware payload</a:t>
            </a:r>
          </a:p>
          <a:p>
            <a:pPr algn="l">
              <a:lnSpc>
                <a:spcPts val="2240"/>
              </a:lnSpc>
              <a:spcAft>
                <a:spcPts val="400"/>
              </a:spcAft>
              <a:defRPr sz="1100" b="0">
                <a:solidFill>
                  <a:srgbClr val="CCCCCC"/>
                </a:solidFill>
                <a:latin typeface="Calibri"/>
              </a:defRPr>
            </a:pPr>
            <a:r>
              <a:t>• Exfiltrated and threatened to leak data</a:t>
            </a:r>
          </a:p>
        </p:txBody>
      </p:sp>
      <p:sp>
        <p:nvSpPr>
          <p:cNvPr id="10" name="Rounded Rectangle 9"/>
          <p:cNvSpPr/>
          <p:nvPr/>
        </p:nvSpPr>
        <p:spPr>
          <a:xfrm>
            <a:off x="4389120" y="2103120"/>
            <a:ext cx="3383280" cy="438912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286000"/>
            <a:ext cx="2926080" cy="365760"/>
          </a:xfrm>
          <a:prstGeom prst="rect">
            <a:avLst/>
          </a:prstGeom>
          <a:noFill/>
        </p:spPr>
        <p:txBody>
          <a:bodyPr wrap="square">
            <a:spAutoFit/>
          </a:bodyPr>
          <a:lstStyle/>
          <a:p>
            <a:pPr algn="l">
              <a:lnSpc>
                <a:spcPts val="1439"/>
              </a:lnSpc>
              <a:spcBef>
                <a:spcPts val="0"/>
              </a:spcBef>
              <a:spcAft>
                <a:spcPts val="0"/>
              </a:spcAft>
              <a:defRPr sz="1200" b="1">
                <a:solidFill>
                  <a:srgbClr val="007BFF"/>
                </a:solidFill>
                <a:latin typeface="Calibri"/>
              </a:defRPr>
            </a:pPr>
            <a:r>
              <a:t>VICTIM ORGANIZATION</a:t>
            </a:r>
          </a:p>
        </p:txBody>
      </p:sp>
      <p:sp>
        <p:nvSpPr>
          <p:cNvPr id="12" name="Rectangle 11"/>
          <p:cNvSpPr/>
          <p:nvPr/>
        </p:nvSpPr>
        <p:spPr>
          <a:xfrm>
            <a:off x="4663440" y="2651760"/>
            <a:ext cx="109728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2834640"/>
            <a:ext cx="2926080" cy="3474720"/>
          </a:xfrm>
          <a:prstGeom prst="rect">
            <a:avLst/>
          </a:prstGeom>
          <a:noFill/>
        </p:spPr>
        <p:txBody>
          <a:bodyPr wrap="square">
            <a:spAutoFit/>
          </a:bodyPr>
          <a:lstStyle/>
          <a:p>
            <a:pPr algn="l">
              <a:lnSpc>
                <a:spcPts val="2240"/>
              </a:lnSpc>
              <a:spcAft>
                <a:spcPts val="400"/>
              </a:spcAft>
              <a:defRPr sz="1400" b="1">
                <a:solidFill>
                  <a:srgbClr val="FFFFFF"/>
                </a:solidFill>
                <a:latin typeface="Calibri"/>
              </a:defRPr>
            </a:pPr>
            <a:r>
              <a:t>MGM Resorts International</a:t>
            </a:r>
          </a:p>
          <a:p>
            <a:pPr algn="l">
              <a:lnSpc>
                <a:spcPts val="2240"/>
              </a:lnSpc>
              <a:spcAft>
                <a:spcPts val="400"/>
              </a:spcAft>
              <a:defRPr sz="1100" b="0">
                <a:solidFill>
                  <a:srgbClr val="CCCCCC"/>
                </a:solidFill>
                <a:latin typeface="Calibri"/>
              </a:defRPr>
            </a:pPr>
            <a:r>
              <a:t>• 29 hotel &amp; resort properties</a:t>
            </a:r>
          </a:p>
          <a:p>
            <a:pPr algn="l">
              <a:lnSpc>
                <a:spcPts val="2240"/>
              </a:lnSpc>
              <a:spcAft>
                <a:spcPts val="400"/>
              </a:spcAft>
              <a:defRPr sz="1100" b="0">
                <a:solidFill>
                  <a:srgbClr val="CCCCCC"/>
                </a:solidFill>
                <a:latin typeface="Calibri"/>
              </a:defRPr>
            </a:pPr>
            <a:r>
              <a:t>• Bellagio, MGM Grand, Mandalay Bay</a:t>
            </a:r>
          </a:p>
          <a:p>
            <a:pPr algn="l">
              <a:lnSpc>
                <a:spcPts val="2240"/>
              </a:lnSpc>
              <a:spcAft>
                <a:spcPts val="400"/>
              </a:spcAft>
              <a:defRPr sz="1100" b="0">
                <a:solidFill>
                  <a:srgbClr val="CCCCCC"/>
                </a:solidFill>
                <a:latin typeface="Calibri"/>
              </a:defRPr>
            </a:pPr>
            <a:r>
              <a:t>• Thousands of employees</a:t>
            </a:r>
          </a:p>
          <a:p>
            <a:pPr algn="l">
              <a:lnSpc>
                <a:spcPts val="2240"/>
              </a:lnSpc>
              <a:spcAft>
                <a:spcPts val="400"/>
              </a:spcAft>
              <a:defRPr sz="1100" b="0">
                <a:solidFill>
                  <a:srgbClr val="CCCCCC"/>
                </a:solidFill>
                <a:latin typeface="Calibri"/>
              </a:defRPr>
            </a:pPr>
            <a:r>
              <a:t>• Millions of guest records at risk</a:t>
            </a:r>
          </a:p>
          <a:p>
            <a:pPr algn="l">
              <a:lnSpc>
                <a:spcPts val="2240"/>
              </a:lnSpc>
              <a:spcAft>
                <a:spcPts val="400"/>
              </a:spcAft>
              <a:defRPr sz="600" b="0">
                <a:solidFill>
                  <a:srgbClr val="1E1E3A"/>
                </a:solidFill>
                <a:latin typeface="Calibri"/>
              </a:defRPr>
            </a:pPr>
          </a:p>
          <a:p>
            <a:pPr algn="l">
              <a:lnSpc>
                <a:spcPts val="2240"/>
              </a:lnSpc>
              <a:spcAft>
                <a:spcPts val="400"/>
              </a:spcAft>
              <a:defRPr sz="1400" b="1">
                <a:solidFill>
                  <a:srgbClr val="FFFFFF"/>
                </a:solidFill>
                <a:latin typeface="Calibri"/>
              </a:defRPr>
            </a:pPr>
            <a:r>
              <a:t>Affected Stakeholders</a:t>
            </a:r>
          </a:p>
          <a:p>
            <a:pPr algn="l">
              <a:lnSpc>
                <a:spcPts val="2240"/>
              </a:lnSpc>
              <a:spcAft>
                <a:spcPts val="400"/>
              </a:spcAft>
              <a:defRPr sz="1100" b="0">
                <a:solidFill>
                  <a:srgbClr val="CCCCCC"/>
                </a:solidFill>
                <a:latin typeface="Calibri"/>
              </a:defRPr>
            </a:pPr>
            <a:r>
              <a:t>• Hotel guests and casino patrons</a:t>
            </a:r>
          </a:p>
          <a:p>
            <a:pPr algn="l">
              <a:lnSpc>
                <a:spcPts val="2240"/>
              </a:lnSpc>
              <a:spcAft>
                <a:spcPts val="400"/>
              </a:spcAft>
              <a:defRPr sz="1100" b="0">
                <a:solidFill>
                  <a:srgbClr val="CCCCCC"/>
                </a:solidFill>
                <a:latin typeface="Calibri"/>
              </a:defRPr>
            </a:pPr>
            <a:r>
              <a:t>• MGM Rewards loyalty members</a:t>
            </a:r>
          </a:p>
          <a:p>
            <a:pPr algn="l">
              <a:lnSpc>
                <a:spcPts val="2240"/>
              </a:lnSpc>
              <a:spcAft>
                <a:spcPts val="400"/>
              </a:spcAft>
              <a:defRPr sz="1100" b="0">
                <a:solidFill>
                  <a:srgbClr val="CCCCCC"/>
                </a:solidFill>
                <a:latin typeface="Calibri"/>
              </a:defRPr>
            </a:pPr>
            <a:r>
              <a:t>• Pre-2019 customers (PII exposed)</a:t>
            </a:r>
          </a:p>
        </p:txBody>
      </p:sp>
      <p:sp>
        <p:nvSpPr>
          <p:cNvPr id="14" name="Rounded Rectangle 13"/>
          <p:cNvSpPr/>
          <p:nvPr/>
        </p:nvSpPr>
        <p:spPr>
          <a:xfrm>
            <a:off x="8046720" y="2103120"/>
            <a:ext cx="3383280" cy="438912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286000"/>
            <a:ext cx="2926080" cy="365760"/>
          </a:xfrm>
          <a:prstGeom prst="rect">
            <a:avLst/>
          </a:prstGeom>
          <a:noFill/>
        </p:spPr>
        <p:txBody>
          <a:bodyPr wrap="square">
            <a:spAutoFit/>
          </a:bodyPr>
          <a:lstStyle/>
          <a:p>
            <a:pPr algn="l">
              <a:lnSpc>
                <a:spcPts val="1439"/>
              </a:lnSpc>
              <a:spcBef>
                <a:spcPts val="0"/>
              </a:spcBef>
              <a:spcAft>
                <a:spcPts val="0"/>
              </a:spcAft>
              <a:defRPr sz="1200" b="1">
                <a:solidFill>
                  <a:srgbClr val="00C97B"/>
                </a:solidFill>
                <a:latin typeface="Calibri"/>
              </a:defRPr>
            </a:pPr>
            <a:r>
              <a:t>RESPONDERS &amp; REGULATORS</a:t>
            </a:r>
          </a:p>
        </p:txBody>
      </p:sp>
      <p:sp>
        <p:nvSpPr>
          <p:cNvPr id="16" name="Rectangle 15"/>
          <p:cNvSpPr/>
          <p:nvPr/>
        </p:nvSpPr>
        <p:spPr>
          <a:xfrm>
            <a:off x="8321040" y="2651760"/>
            <a:ext cx="1097280" cy="50800"/>
          </a:xfrm>
          <a:prstGeom prst="rect">
            <a:avLst/>
          </a:prstGeom>
          <a:solidFill>
            <a:srgbClr val="00C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2834640"/>
            <a:ext cx="2926080" cy="3474720"/>
          </a:xfrm>
          <a:prstGeom prst="rect">
            <a:avLst/>
          </a:prstGeom>
          <a:noFill/>
        </p:spPr>
        <p:txBody>
          <a:bodyPr wrap="square">
            <a:spAutoFit/>
          </a:bodyPr>
          <a:lstStyle/>
          <a:p>
            <a:pPr algn="l">
              <a:lnSpc>
                <a:spcPts val="2240"/>
              </a:lnSpc>
              <a:spcAft>
                <a:spcPts val="400"/>
              </a:spcAft>
              <a:defRPr sz="1400" b="1">
                <a:solidFill>
                  <a:srgbClr val="FFFFFF"/>
                </a:solidFill>
                <a:latin typeface="Calibri"/>
              </a:defRPr>
            </a:pPr>
            <a:r>
              <a:t>Law Enforcement</a:t>
            </a:r>
          </a:p>
          <a:p>
            <a:pPr algn="l">
              <a:lnSpc>
                <a:spcPts val="2240"/>
              </a:lnSpc>
              <a:spcAft>
                <a:spcPts val="400"/>
              </a:spcAft>
              <a:defRPr sz="1100" b="0">
                <a:solidFill>
                  <a:srgbClr val="CCCCCC"/>
                </a:solidFill>
                <a:latin typeface="Calibri"/>
              </a:defRPr>
            </a:pPr>
            <a:r>
              <a:t>• FBI — active investigation</a:t>
            </a:r>
          </a:p>
          <a:p>
            <a:pPr algn="l">
              <a:lnSpc>
                <a:spcPts val="2240"/>
              </a:lnSpc>
              <a:spcAft>
                <a:spcPts val="400"/>
              </a:spcAft>
              <a:defRPr sz="1100" b="0">
                <a:solidFill>
                  <a:srgbClr val="CCCCCC"/>
                </a:solidFill>
                <a:latin typeface="Calibri"/>
              </a:defRPr>
            </a:pPr>
            <a:r>
              <a:t>• UK National Crime Agency</a:t>
            </a:r>
          </a:p>
          <a:p>
            <a:pPr algn="l">
              <a:lnSpc>
                <a:spcPts val="2240"/>
              </a:lnSpc>
              <a:spcAft>
                <a:spcPts val="400"/>
              </a:spcAft>
              <a:defRPr sz="1100" b="0">
                <a:solidFill>
                  <a:srgbClr val="CCCCCC"/>
                </a:solidFill>
                <a:latin typeface="Calibri"/>
              </a:defRPr>
            </a:pPr>
            <a:r>
              <a:t>• Arrested 17-year-old suspect (UK)</a:t>
            </a:r>
          </a:p>
          <a:p>
            <a:pPr algn="l">
              <a:lnSpc>
                <a:spcPts val="2240"/>
              </a:lnSpc>
              <a:spcAft>
                <a:spcPts val="400"/>
              </a:spcAft>
              <a:defRPr sz="600" b="0">
                <a:solidFill>
                  <a:srgbClr val="1E1E3A"/>
                </a:solidFill>
                <a:latin typeface="Calibri"/>
              </a:defRPr>
            </a:pPr>
          </a:p>
          <a:p>
            <a:pPr algn="l">
              <a:lnSpc>
                <a:spcPts val="2240"/>
              </a:lnSpc>
              <a:spcAft>
                <a:spcPts val="400"/>
              </a:spcAft>
              <a:defRPr sz="1400" b="1">
                <a:solidFill>
                  <a:srgbClr val="FFFFFF"/>
                </a:solidFill>
                <a:latin typeface="Calibri"/>
              </a:defRPr>
            </a:pPr>
            <a:r>
              <a:t>Cybersecurity Firms</a:t>
            </a:r>
          </a:p>
          <a:p>
            <a:pPr algn="l">
              <a:lnSpc>
                <a:spcPts val="2240"/>
              </a:lnSpc>
              <a:spcAft>
                <a:spcPts val="400"/>
              </a:spcAft>
              <a:defRPr sz="1100" b="0">
                <a:solidFill>
                  <a:srgbClr val="CCCCCC"/>
                </a:solidFill>
                <a:latin typeface="Calibri"/>
              </a:defRPr>
            </a:pPr>
            <a:r>
              <a:t>• CrowdStrike &amp; Mandiant</a:t>
            </a:r>
          </a:p>
          <a:p>
            <a:pPr algn="l">
              <a:lnSpc>
                <a:spcPts val="2240"/>
              </a:lnSpc>
              <a:spcAft>
                <a:spcPts val="400"/>
              </a:spcAft>
              <a:defRPr sz="1100" b="0">
                <a:solidFill>
                  <a:srgbClr val="CCCCCC"/>
                </a:solidFill>
                <a:latin typeface="Calibri"/>
              </a:defRPr>
            </a:pPr>
            <a:r>
              <a:t>• Assisted in incident response</a:t>
            </a:r>
          </a:p>
          <a:p>
            <a:pPr algn="l">
              <a:lnSpc>
                <a:spcPts val="2240"/>
              </a:lnSpc>
              <a:spcAft>
                <a:spcPts val="400"/>
              </a:spcAft>
              <a:defRPr sz="600" b="0">
                <a:solidFill>
                  <a:srgbClr val="1E1E3A"/>
                </a:solidFill>
                <a:latin typeface="Calibri"/>
              </a:defRPr>
            </a:pPr>
          </a:p>
          <a:p>
            <a:pPr algn="l">
              <a:lnSpc>
                <a:spcPts val="2240"/>
              </a:lnSpc>
              <a:spcAft>
                <a:spcPts val="400"/>
              </a:spcAft>
              <a:defRPr sz="1400" b="1">
                <a:solidFill>
                  <a:srgbClr val="FFFFFF"/>
                </a:solidFill>
                <a:latin typeface="Calibri"/>
              </a:defRPr>
            </a:pPr>
            <a:r>
              <a:t>Regulators</a:t>
            </a:r>
          </a:p>
          <a:p>
            <a:pPr algn="l">
              <a:lnSpc>
                <a:spcPts val="2240"/>
              </a:lnSpc>
              <a:spcAft>
                <a:spcPts val="400"/>
              </a:spcAft>
              <a:defRPr sz="1100" b="0">
                <a:solidFill>
                  <a:srgbClr val="CCCCCC"/>
                </a:solidFill>
                <a:latin typeface="Calibri"/>
              </a:defRPr>
            </a:pPr>
            <a:r>
              <a:t>• FTC, SEC, Nevada Gaming Board</a:t>
            </a:r>
          </a:p>
        </p:txBody>
      </p:sp>
      <p:sp>
        <p:nvSpPr>
          <p:cNvPr id="18" name="TextBox 17"/>
          <p:cNvSpPr txBox="1"/>
          <p:nvPr/>
        </p:nvSpPr>
        <p:spPr>
          <a:xfrm>
            <a:off x="11155680" y="6400800"/>
            <a:ext cx="914400" cy="365760"/>
          </a:xfrm>
          <a:prstGeom prst="rect">
            <a:avLst/>
          </a:prstGeom>
          <a:noFill/>
        </p:spPr>
        <p:txBody>
          <a:bodyPr wrap="square">
            <a:spAutoFit/>
          </a:bodyPr>
          <a:lstStyle/>
          <a:p>
            <a:pPr algn="r">
              <a:lnSpc>
                <a:spcPts val="1200"/>
              </a:lnSpc>
              <a:spcBef>
                <a:spcPts val="0"/>
              </a:spcBef>
              <a:spcAft>
                <a:spcPts val="0"/>
              </a:spcAft>
              <a:defRPr sz="1000" b="0">
                <a:solidFill>
                  <a:srgbClr val="999999"/>
                </a:solidFill>
                <a:latin typeface="Calibri"/>
              </a:defRPr>
            </a:pPr>
            <a: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45720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03  TIMELINE</a:t>
            </a:r>
          </a:p>
        </p:txBody>
      </p:sp>
      <p:sp>
        <p:nvSpPr>
          <p:cNvPr id="4" name="TextBox 3"/>
          <p:cNvSpPr txBox="1"/>
          <p:nvPr/>
        </p:nvSpPr>
        <p:spPr>
          <a:xfrm>
            <a:off x="731520" y="914400"/>
            <a:ext cx="9144000" cy="64008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What Happened — Attack Timeline</a:t>
            </a:r>
          </a:p>
        </p:txBody>
      </p:sp>
      <p:sp>
        <p:nvSpPr>
          <p:cNvPr id="5" name="Rectangle 4"/>
          <p:cNvSpPr/>
          <p:nvPr/>
        </p:nvSpPr>
        <p:spPr>
          <a:xfrm>
            <a:off x="731520" y="1645920"/>
            <a:ext cx="228600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03120"/>
            <a:ext cx="1005840" cy="594360"/>
          </a:xfrm>
          <a:prstGeom prst="roundRect">
            <a:avLst>
              <a:gd name="adj" fmla="val 8000"/>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12848"/>
            <a:ext cx="914400" cy="365760"/>
          </a:xfrm>
          <a:prstGeom prst="rect">
            <a:avLst/>
          </a:prstGeom>
          <a:noFill/>
        </p:spPr>
        <p:txBody>
          <a:bodyPr wrap="square">
            <a:spAutoFit/>
          </a:bodyPr>
          <a:lstStyle/>
          <a:p>
            <a:pPr algn="ctr">
              <a:lnSpc>
                <a:spcPts val="1320"/>
              </a:lnSpc>
              <a:spcBef>
                <a:spcPts val="0"/>
              </a:spcBef>
              <a:spcAft>
                <a:spcPts val="0"/>
              </a:spcAft>
              <a:defRPr sz="1100" b="1">
                <a:solidFill>
                  <a:srgbClr val="FFFFFF"/>
                </a:solidFill>
                <a:latin typeface="Calibri"/>
              </a:defRPr>
            </a:pPr>
            <a:r>
              <a:t>SEP 7</a:t>
            </a:r>
          </a:p>
        </p:txBody>
      </p:sp>
      <p:sp>
        <p:nvSpPr>
          <p:cNvPr id="8" name="TextBox 7"/>
          <p:cNvSpPr txBox="1"/>
          <p:nvPr/>
        </p:nvSpPr>
        <p:spPr>
          <a:xfrm>
            <a:off x="1920240" y="2121408"/>
            <a:ext cx="3657600" cy="320040"/>
          </a:xfrm>
          <a:prstGeom prst="rect">
            <a:avLst/>
          </a:prstGeom>
          <a:noFill/>
        </p:spPr>
        <p:txBody>
          <a:bodyPr wrap="square">
            <a:spAutoFit/>
          </a:bodyPr>
          <a:lstStyle/>
          <a:p>
            <a:pPr algn="l">
              <a:lnSpc>
                <a:spcPts val="1560"/>
              </a:lnSpc>
              <a:spcBef>
                <a:spcPts val="0"/>
              </a:spcBef>
              <a:spcAft>
                <a:spcPts val="0"/>
              </a:spcAft>
              <a:defRPr sz="1300" b="1">
                <a:solidFill>
                  <a:srgbClr val="FFFFFF"/>
                </a:solidFill>
                <a:latin typeface="Calibri"/>
              </a:defRPr>
            </a:pPr>
            <a:r>
              <a:t>Initial Breach via Social Engineering</a:t>
            </a:r>
          </a:p>
        </p:txBody>
      </p:sp>
      <p:sp>
        <p:nvSpPr>
          <p:cNvPr id="9" name="TextBox 8"/>
          <p:cNvSpPr txBox="1"/>
          <p:nvPr/>
        </p:nvSpPr>
        <p:spPr>
          <a:xfrm>
            <a:off x="1920240" y="2395728"/>
            <a:ext cx="9144000" cy="411480"/>
          </a:xfrm>
          <a:prstGeom prst="rect">
            <a:avLst/>
          </a:prstGeom>
          <a:noFill/>
        </p:spPr>
        <p:txBody>
          <a:bodyPr wrap="square">
            <a:spAutoFit/>
          </a:bodyPr>
          <a:lstStyle/>
          <a:p>
            <a:pPr algn="l">
              <a:lnSpc>
                <a:spcPts val="1365"/>
              </a:lnSpc>
              <a:spcBef>
                <a:spcPts val="0"/>
              </a:spcBef>
              <a:spcAft>
                <a:spcPts val="0"/>
              </a:spcAft>
              <a:defRPr sz="1050" b="0">
                <a:solidFill>
                  <a:srgbClr val="CCCCCC"/>
                </a:solidFill>
                <a:latin typeface="Calibri"/>
              </a:defRPr>
            </a:pPr>
            <a:r>
              <a:t>Scattered Spider impersonated an MGM employee using LinkedIn information. A 10-minute vishing call to the IT help desk resulted in MFA reset and credential access.</a:t>
            </a:r>
          </a:p>
        </p:txBody>
      </p:sp>
      <p:sp>
        <p:nvSpPr>
          <p:cNvPr id="10" name="Rounded Rectangle 9"/>
          <p:cNvSpPr/>
          <p:nvPr/>
        </p:nvSpPr>
        <p:spPr>
          <a:xfrm>
            <a:off x="731520" y="2852928"/>
            <a:ext cx="1005840" cy="594360"/>
          </a:xfrm>
          <a:prstGeom prst="roundRect">
            <a:avLst>
              <a:gd name="adj" fmla="val 8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962656"/>
            <a:ext cx="914400" cy="365760"/>
          </a:xfrm>
          <a:prstGeom prst="rect">
            <a:avLst/>
          </a:prstGeom>
          <a:noFill/>
        </p:spPr>
        <p:txBody>
          <a:bodyPr wrap="square">
            <a:spAutoFit/>
          </a:bodyPr>
          <a:lstStyle/>
          <a:p>
            <a:pPr algn="ctr">
              <a:lnSpc>
                <a:spcPts val="1320"/>
              </a:lnSpc>
              <a:spcBef>
                <a:spcPts val="0"/>
              </a:spcBef>
              <a:spcAft>
                <a:spcPts val="0"/>
              </a:spcAft>
              <a:defRPr sz="1100" b="1">
                <a:solidFill>
                  <a:srgbClr val="FFFFFF"/>
                </a:solidFill>
                <a:latin typeface="Calibri"/>
              </a:defRPr>
            </a:pPr>
            <a:r>
              <a:t>SEP 8–9</a:t>
            </a:r>
          </a:p>
        </p:txBody>
      </p:sp>
      <p:sp>
        <p:nvSpPr>
          <p:cNvPr id="12" name="TextBox 11"/>
          <p:cNvSpPr txBox="1"/>
          <p:nvPr/>
        </p:nvSpPr>
        <p:spPr>
          <a:xfrm>
            <a:off x="1920240" y="2871216"/>
            <a:ext cx="3657600" cy="320040"/>
          </a:xfrm>
          <a:prstGeom prst="rect">
            <a:avLst/>
          </a:prstGeom>
          <a:noFill/>
        </p:spPr>
        <p:txBody>
          <a:bodyPr wrap="square">
            <a:spAutoFit/>
          </a:bodyPr>
          <a:lstStyle/>
          <a:p>
            <a:pPr algn="l">
              <a:lnSpc>
                <a:spcPts val="1560"/>
              </a:lnSpc>
              <a:spcBef>
                <a:spcPts val="0"/>
              </a:spcBef>
              <a:spcAft>
                <a:spcPts val="0"/>
              </a:spcAft>
              <a:defRPr sz="1300" b="1">
                <a:solidFill>
                  <a:srgbClr val="FFFFFF"/>
                </a:solidFill>
                <a:latin typeface="Calibri"/>
              </a:defRPr>
            </a:pPr>
            <a:r>
              <a:t>Privilege Escalation &amp; Lateral Movement</a:t>
            </a:r>
          </a:p>
        </p:txBody>
      </p:sp>
      <p:sp>
        <p:nvSpPr>
          <p:cNvPr id="13" name="TextBox 12"/>
          <p:cNvSpPr txBox="1"/>
          <p:nvPr/>
        </p:nvSpPr>
        <p:spPr>
          <a:xfrm>
            <a:off x="1920240" y="3145536"/>
            <a:ext cx="9144000" cy="411480"/>
          </a:xfrm>
          <a:prstGeom prst="rect">
            <a:avLst/>
          </a:prstGeom>
          <a:noFill/>
        </p:spPr>
        <p:txBody>
          <a:bodyPr wrap="square">
            <a:spAutoFit/>
          </a:bodyPr>
          <a:lstStyle/>
          <a:p>
            <a:pPr algn="l">
              <a:lnSpc>
                <a:spcPts val="1365"/>
              </a:lnSpc>
              <a:spcBef>
                <a:spcPts val="0"/>
              </a:spcBef>
              <a:spcAft>
                <a:spcPts val="0"/>
              </a:spcAft>
              <a:defRPr sz="1050" b="0">
                <a:solidFill>
                  <a:srgbClr val="CCCCCC"/>
                </a:solidFill>
                <a:latin typeface="Calibri"/>
              </a:defRPr>
            </a:pPr>
            <a:r>
              <a:t>Attackers gained admin access to Okta and Azure environments. Configured rogue Identity Provider using Okta's inbound federation. Began password sniffing on authentication servers.</a:t>
            </a:r>
          </a:p>
        </p:txBody>
      </p:sp>
      <p:sp>
        <p:nvSpPr>
          <p:cNvPr id="14" name="Rounded Rectangle 13"/>
          <p:cNvSpPr/>
          <p:nvPr/>
        </p:nvSpPr>
        <p:spPr>
          <a:xfrm>
            <a:off x="731520" y="3602736"/>
            <a:ext cx="1005840" cy="594360"/>
          </a:xfrm>
          <a:prstGeom prst="roundRect">
            <a:avLst>
              <a:gd name="adj" fmla="val 8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712464"/>
            <a:ext cx="914400" cy="365760"/>
          </a:xfrm>
          <a:prstGeom prst="rect">
            <a:avLst/>
          </a:prstGeom>
          <a:noFill/>
        </p:spPr>
        <p:txBody>
          <a:bodyPr wrap="square">
            <a:spAutoFit/>
          </a:bodyPr>
          <a:lstStyle/>
          <a:p>
            <a:pPr algn="ctr">
              <a:lnSpc>
                <a:spcPts val="1320"/>
              </a:lnSpc>
              <a:spcBef>
                <a:spcPts val="0"/>
              </a:spcBef>
              <a:spcAft>
                <a:spcPts val="0"/>
              </a:spcAft>
              <a:defRPr sz="1100" b="1">
                <a:solidFill>
                  <a:srgbClr val="FFFFFF"/>
                </a:solidFill>
                <a:latin typeface="Calibri"/>
              </a:defRPr>
            </a:pPr>
            <a:r>
              <a:t>SEP 10</a:t>
            </a:r>
          </a:p>
        </p:txBody>
      </p:sp>
      <p:sp>
        <p:nvSpPr>
          <p:cNvPr id="16" name="TextBox 15"/>
          <p:cNvSpPr txBox="1"/>
          <p:nvPr/>
        </p:nvSpPr>
        <p:spPr>
          <a:xfrm>
            <a:off x="1920240" y="3621024"/>
            <a:ext cx="3657600" cy="320040"/>
          </a:xfrm>
          <a:prstGeom prst="rect">
            <a:avLst/>
          </a:prstGeom>
          <a:noFill/>
        </p:spPr>
        <p:txBody>
          <a:bodyPr wrap="square">
            <a:spAutoFit/>
          </a:bodyPr>
          <a:lstStyle/>
          <a:p>
            <a:pPr algn="l">
              <a:lnSpc>
                <a:spcPts val="1560"/>
              </a:lnSpc>
              <a:spcBef>
                <a:spcPts val="0"/>
              </a:spcBef>
              <a:spcAft>
                <a:spcPts val="0"/>
              </a:spcAft>
              <a:defRPr sz="1300" b="1">
                <a:solidFill>
                  <a:srgbClr val="FFFFFF"/>
                </a:solidFill>
                <a:latin typeface="Calibri"/>
              </a:defRPr>
            </a:pPr>
            <a:r>
              <a:t>Systems Begin Failing</a:t>
            </a:r>
          </a:p>
        </p:txBody>
      </p:sp>
      <p:sp>
        <p:nvSpPr>
          <p:cNvPr id="17" name="TextBox 16"/>
          <p:cNvSpPr txBox="1"/>
          <p:nvPr/>
        </p:nvSpPr>
        <p:spPr>
          <a:xfrm>
            <a:off x="1920240" y="3895344"/>
            <a:ext cx="9144000" cy="411480"/>
          </a:xfrm>
          <a:prstGeom prst="rect">
            <a:avLst/>
          </a:prstGeom>
          <a:noFill/>
        </p:spPr>
        <p:txBody>
          <a:bodyPr wrap="square">
            <a:spAutoFit/>
          </a:bodyPr>
          <a:lstStyle/>
          <a:p>
            <a:pPr algn="l">
              <a:lnSpc>
                <a:spcPts val="1365"/>
              </a:lnSpc>
              <a:spcBef>
                <a:spcPts val="0"/>
              </a:spcBef>
              <a:spcAft>
                <a:spcPts val="0"/>
              </a:spcAft>
              <a:defRPr sz="1050" b="0">
                <a:solidFill>
                  <a:srgbClr val="CCCCCC"/>
                </a:solidFill>
                <a:latin typeface="Calibri"/>
              </a:defRPr>
            </a:pPr>
            <a:r>
              <a:t>MGM experiences system outages across properties. Slot machines, digital keys, reservations, and POS systems start going offline.</a:t>
            </a:r>
          </a:p>
        </p:txBody>
      </p:sp>
      <p:sp>
        <p:nvSpPr>
          <p:cNvPr id="18" name="Rounded Rectangle 17"/>
          <p:cNvSpPr/>
          <p:nvPr/>
        </p:nvSpPr>
        <p:spPr>
          <a:xfrm>
            <a:off x="731520" y="4352544"/>
            <a:ext cx="1005840" cy="594360"/>
          </a:xfrm>
          <a:prstGeom prst="roundRect">
            <a:avLst>
              <a:gd name="adj" fmla="val 8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462272"/>
            <a:ext cx="914400" cy="365760"/>
          </a:xfrm>
          <a:prstGeom prst="rect">
            <a:avLst/>
          </a:prstGeom>
          <a:noFill/>
        </p:spPr>
        <p:txBody>
          <a:bodyPr wrap="square">
            <a:spAutoFit/>
          </a:bodyPr>
          <a:lstStyle/>
          <a:p>
            <a:pPr algn="ctr">
              <a:lnSpc>
                <a:spcPts val="1320"/>
              </a:lnSpc>
              <a:spcBef>
                <a:spcPts val="0"/>
              </a:spcBef>
              <a:spcAft>
                <a:spcPts val="0"/>
              </a:spcAft>
              <a:defRPr sz="1100" b="1">
                <a:solidFill>
                  <a:srgbClr val="FFFFFF"/>
                </a:solidFill>
                <a:latin typeface="Calibri"/>
              </a:defRPr>
            </a:pPr>
            <a:r>
              <a:t>SEP 11</a:t>
            </a:r>
          </a:p>
        </p:txBody>
      </p:sp>
      <p:sp>
        <p:nvSpPr>
          <p:cNvPr id="20" name="TextBox 19"/>
          <p:cNvSpPr txBox="1"/>
          <p:nvPr/>
        </p:nvSpPr>
        <p:spPr>
          <a:xfrm>
            <a:off x="1920240" y="4370832"/>
            <a:ext cx="3657600" cy="320040"/>
          </a:xfrm>
          <a:prstGeom prst="rect">
            <a:avLst/>
          </a:prstGeom>
          <a:noFill/>
        </p:spPr>
        <p:txBody>
          <a:bodyPr wrap="square">
            <a:spAutoFit/>
          </a:bodyPr>
          <a:lstStyle/>
          <a:p>
            <a:pPr algn="l">
              <a:lnSpc>
                <a:spcPts val="1560"/>
              </a:lnSpc>
              <a:spcBef>
                <a:spcPts val="0"/>
              </a:spcBef>
              <a:spcAft>
                <a:spcPts val="0"/>
              </a:spcAft>
              <a:defRPr sz="1300" b="1">
                <a:solidFill>
                  <a:srgbClr val="FFFFFF"/>
                </a:solidFill>
                <a:latin typeface="Calibri"/>
              </a:defRPr>
            </a:pPr>
            <a:r>
              <a:t>Public Disclosure</a:t>
            </a:r>
          </a:p>
        </p:txBody>
      </p:sp>
      <p:sp>
        <p:nvSpPr>
          <p:cNvPr id="21" name="TextBox 20"/>
          <p:cNvSpPr txBox="1"/>
          <p:nvPr/>
        </p:nvSpPr>
        <p:spPr>
          <a:xfrm>
            <a:off x="1920240" y="4645152"/>
            <a:ext cx="9144000" cy="411480"/>
          </a:xfrm>
          <a:prstGeom prst="rect">
            <a:avLst/>
          </a:prstGeom>
          <a:noFill/>
        </p:spPr>
        <p:txBody>
          <a:bodyPr wrap="square">
            <a:spAutoFit/>
          </a:bodyPr>
          <a:lstStyle/>
          <a:p>
            <a:pPr algn="l">
              <a:lnSpc>
                <a:spcPts val="1365"/>
              </a:lnSpc>
              <a:spcBef>
                <a:spcPts val="0"/>
              </a:spcBef>
              <a:spcAft>
                <a:spcPts val="0"/>
              </a:spcAft>
              <a:defRPr sz="1050" b="0">
                <a:solidFill>
                  <a:srgbClr val="CCCCCC"/>
                </a:solidFill>
                <a:latin typeface="Calibri"/>
              </a:defRPr>
            </a:pPr>
            <a:r>
              <a:t>MGM publicly discloses the "cybersecurity incident" on X (Twitter) and contacts law enforcement. FBI investigation begins.</a:t>
            </a:r>
          </a:p>
        </p:txBody>
      </p:sp>
      <p:sp>
        <p:nvSpPr>
          <p:cNvPr id="22" name="Rounded Rectangle 21"/>
          <p:cNvSpPr/>
          <p:nvPr/>
        </p:nvSpPr>
        <p:spPr>
          <a:xfrm>
            <a:off x="731520" y="5102352"/>
            <a:ext cx="1005840" cy="594360"/>
          </a:xfrm>
          <a:prstGeom prst="roundRect">
            <a:avLst>
              <a:gd name="adj" fmla="val 8000"/>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212080"/>
            <a:ext cx="914400" cy="365760"/>
          </a:xfrm>
          <a:prstGeom prst="rect">
            <a:avLst/>
          </a:prstGeom>
          <a:noFill/>
        </p:spPr>
        <p:txBody>
          <a:bodyPr wrap="square">
            <a:spAutoFit/>
          </a:bodyPr>
          <a:lstStyle/>
          <a:p>
            <a:pPr algn="ctr">
              <a:lnSpc>
                <a:spcPts val="1320"/>
              </a:lnSpc>
              <a:spcBef>
                <a:spcPts val="0"/>
              </a:spcBef>
              <a:spcAft>
                <a:spcPts val="0"/>
              </a:spcAft>
              <a:defRPr sz="1100" b="1">
                <a:solidFill>
                  <a:srgbClr val="FFFFFF"/>
                </a:solidFill>
                <a:latin typeface="Calibri"/>
              </a:defRPr>
            </a:pPr>
            <a:r>
              <a:t>SEP 12–14</a:t>
            </a:r>
          </a:p>
        </p:txBody>
      </p:sp>
      <p:sp>
        <p:nvSpPr>
          <p:cNvPr id="24" name="TextBox 23"/>
          <p:cNvSpPr txBox="1"/>
          <p:nvPr/>
        </p:nvSpPr>
        <p:spPr>
          <a:xfrm>
            <a:off x="1920240" y="5120640"/>
            <a:ext cx="3657600" cy="320040"/>
          </a:xfrm>
          <a:prstGeom prst="rect">
            <a:avLst/>
          </a:prstGeom>
          <a:noFill/>
        </p:spPr>
        <p:txBody>
          <a:bodyPr wrap="square">
            <a:spAutoFit/>
          </a:bodyPr>
          <a:lstStyle/>
          <a:p>
            <a:pPr algn="l">
              <a:lnSpc>
                <a:spcPts val="1560"/>
              </a:lnSpc>
              <a:spcBef>
                <a:spcPts val="0"/>
              </a:spcBef>
              <a:spcAft>
                <a:spcPts val="0"/>
              </a:spcAft>
              <a:defRPr sz="1300" b="1">
                <a:solidFill>
                  <a:srgbClr val="FFFFFF"/>
                </a:solidFill>
                <a:latin typeface="Calibri"/>
              </a:defRPr>
            </a:pPr>
            <a:r>
              <a:t>Ransomware Deployed &amp; Data Exfiltrated</a:t>
            </a:r>
          </a:p>
        </p:txBody>
      </p:sp>
      <p:sp>
        <p:nvSpPr>
          <p:cNvPr id="25" name="TextBox 24"/>
          <p:cNvSpPr txBox="1"/>
          <p:nvPr/>
        </p:nvSpPr>
        <p:spPr>
          <a:xfrm>
            <a:off x="1920240" y="5394960"/>
            <a:ext cx="9144000" cy="411480"/>
          </a:xfrm>
          <a:prstGeom prst="rect">
            <a:avLst/>
          </a:prstGeom>
          <a:noFill/>
        </p:spPr>
        <p:txBody>
          <a:bodyPr wrap="square">
            <a:spAutoFit/>
          </a:bodyPr>
          <a:lstStyle/>
          <a:p>
            <a:pPr algn="l">
              <a:lnSpc>
                <a:spcPts val="1365"/>
              </a:lnSpc>
              <a:spcBef>
                <a:spcPts val="0"/>
              </a:spcBef>
              <a:spcAft>
                <a:spcPts val="0"/>
              </a:spcAft>
              <a:defRPr sz="1050" b="0">
                <a:solidFill>
                  <a:srgbClr val="CCCCCC"/>
                </a:solidFill>
                <a:latin typeface="Calibri"/>
              </a:defRPr>
            </a:pPr>
            <a:r>
              <a:t>ALPHV deploys ransomware to 100+ ESXi hypervisors. Claims to exfiltrate 6 TB of customer data. Demands $30M ransom.</a:t>
            </a:r>
          </a:p>
        </p:txBody>
      </p:sp>
      <p:sp>
        <p:nvSpPr>
          <p:cNvPr id="26" name="Rounded Rectangle 25"/>
          <p:cNvSpPr/>
          <p:nvPr/>
        </p:nvSpPr>
        <p:spPr>
          <a:xfrm>
            <a:off x="731520" y="5852160"/>
            <a:ext cx="1005840" cy="594360"/>
          </a:xfrm>
          <a:prstGeom prst="roundRect">
            <a:avLst>
              <a:gd name="adj" fmla="val 8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961888"/>
            <a:ext cx="914400" cy="365760"/>
          </a:xfrm>
          <a:prstGeom prst="rect">
            <a:avLst/>
          </a:prstGeom>
          <a:noFill/>
        </p:spPr>
        <p:txBody>
          <a:bodyPr wrap="square">
            <a:spAutoFit/>
          </a:bodyPr>
          <a:lstStyle/>
          <a:p>
            <a:pPr algn="ctr">
              <a:lnSpc>
                <a:spcPts val="1320"/>
              </a:lnSpc>
              <a:spcBef>
                <a:spcPts val="0"/>
              </a:spcBef>
              <a:spcAft>
                <a:spcPts val="0"/>
              </a:spcAft>
              <a:defRPr sz="1100" b="1">
                <a:solidFill>
                  <a:srgbClr val="FFFFFF"/>
                </a:solidFill>
                <a:latin typeface="Calibri"/>
              </a:defRPr>
            </a:pPr>
            <a:r>
              <a:t>SEP 20</a:t>
            </a:r>
          </a:p>
        </p:txBody>
      </p:sp>
      <p:sp>
        <p:nvSpPr>
          <p:cNvPr id="28" name="TextBox 27"/>
          <p:cNvSpPr txBox="1"/>
          <p:nvPr/>
        </p:nvSpPr>
        <p:spPr>
          <a:xfrm>
            <a:off x="1920240" y="5870448"/>
            <a:ext cx="3657600" cy="320040"/>
          </a:xfrm>
          <a:prstGeom prst="rect">
            <a:avLst/>
          </a:prstGeom>
          <a:noFill/>
        </p:spPr>
        <p:txBody>
          <a:bodyPr wrap="square">
            <a:spAutoFit/>
          </a:bodyPr>
          <a:lstStyle/>
          <a:p>
            <a:pPr algn="l">
              <a:lnSpc>
                <a:spcPts val="1560"/>
              </a:lnSpc>
              <a:spcBef>
                <a:spcPts val="0"/>
              </a:spcBef>
              <a:spcAft>
                <a:spcPts val="0"/>
              </a:spcAft>
              <a:defRPr sz="1300" b="1">
                <a:solidFill>
                  <a:srgbClr val="FFFFFF"/>
                </a:solidFill>
                <a:latin typeface="Calibri"/>
              </a:defRPr>
            </a:pPr>
            <a:r>
              <a:t>Systems Restored</a:t>
            </a:r>
          </a:p>
        </p:txBody>
      </p:sp>
      <p:sp>
        <p:nvSpPr>
          <p:cNvPr id="29" name="TextBox 28"/>
          <p:cNvSpPr txBox="1"/>
          <p:nvPr/>
        </p:nvSpPr>
        <p:spPr>
          <a:xfrm>
            <a:off x="1920240" y="6144768"/>
            <a:ext cx="9144000" cy="411480"/>
          </a:xfrm>
          <a:prstGeom prst="rect">
            <a:avLst/>
          </a:prstGeom>
          <a:noFill/>
        </p:spPr>
        <p:txBody>
          <a:bodyPr wrap="square">
            <a:spAutoFit/>
          </a:bodyPr>
          <a:lstStyle/>
          <a:p>
            <a:pPr algn="l">
              <a:lnSpc>
                <a:spcPts val="1365"/>
              </a:lnSpc>
              <a:spcBef>
                <a:spcPts val="0"/>
              </a:spcBef>
              <a:spcAft>
                <a:spcPts val="0"/>
              </a:spcAft>
              <a:defRPr sz="1050" b="0">
                <a:solidFill>
                  <a:srgbClr val="CCCCCC"/>
                </a:solidFill>
                <a:latin typeface="Calibri"/>
              </a:defRPr>
            </a:pPr>
            <a:r>
              <a:t>MGM confirms full restoration of all guest-facing systems. MGM refuses to pay the ransom demand.</a:t>
            </a:r>
          </a:p>
        </p:txBody>
      </p:sp>
      <p:sp>
        <p:nvSpPr>
          <p:cNvPr id="30" name="TextBox 29"/>
          <p:cNvSpPr txBox="1"/>
          <p:nvPr/>
        </p:nvSpPr>
        <p:spPr>
          <a:xfrm>
            <a:off x="11155680" y="6400800"/>
            <a:ext cx="914400" cy="365760"/>
          </a:xfrm>
          <a:prstGeom prst="rect">
            <a:avLst/>
          </a:prstGeom>
          <a:noFill/>
        </p:spPr>
        <p:txBody>
          <a:bodyPr wrap="square">
            <a:spAutoFit/>
          </a:bodyPr>
          <a:lstStyle/>
          <a:p>
            <a:pPr algn="r">
              <a:lnSpc>
                <a:spcPts val="1200"/>
              </a:lnSpc>
              <a:spcBef>
                <a:spcPts val="0"/>
              </a:spcBef>
              <a:spcAft>
                <a:spcPts val="0"/>
              </a:spcAft>
              <a:defRPr sz="1000" b="0">
                <a:solidFill>
                  <a:srgbClr val="999999"/>
                </a:solidFill>
                <a:latin typeface="Calibri"/>
              </a:defRPr>
            </a:pPr>
            <a: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45720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04  ATTACK FLOW</a:t>
            </a:r>
          </a:p>
        </p:txBody>
      </p:sp>
      <p:sp>
        <p:nvSpPr>
          <p:cNvPr id="4" name="TextBox 3"/>
          <p:cNvSpPr txBox="1"/>
          <p:nvPr/>
        </p:nvSpPr>
        <p:spPr>
          <a:xfrm>
            <a:off x="731520" y="914400"/>
            <a:ext cx="9144000" cy="64008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Technical Breakdown of the Cyberattack</a:t>
            </a:r>
          </a:p>
        </p:txBody>
      </p:sp>
      <p:sp>
        <p:nvSpPr>
          <p:cNvPr id="5" name="Rectangle 4"/>
          <p:cNvSpPr/>
          <p:nvPr/>
        </p:nvSpPr>
        <p:spPr>
          <a:xfrm>
            <a:off x="731520" y="1645920"/>
            <a:ext cx="228600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03120"/>
            <a:ext cx="411480" cy="411480"/>
          </a:xfrm>
          <a:prstGeom prst="roundRect">
            <a:avLst>
              <a:gd name="adj" fmla="val 15000"/>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21408"/>
            <a:ext cx="411480" cy="411480"/>
          </a:xfrm>
          <a:prstGeom prst="rect">
            <a:avLst/>
          </a:prstGeom>
          <a:noFill/>
        </p:spPr>
        <p:txBody>
          <a:bodyPr wrap="square">
            <a:spAutoFit/>
          </a:bodyPr>
          <a:lstStyle/>
          <a:p>
            <a:pPr algn="ctr">
              <a:lnSpc>
                <a:spcPts val="2160"/>
              </a:lnSpc>
              <a:spcBef>
                <a:spcPts val="0"/>
              </a:spcBef>
              <a:spcAft>
                <a:spcPts val="0"/>
              </a:spcAft>
              <a:defRPr sz="1800" b="1">
                <a:solidFill>
                  <a:srgbClr val="FFFFFF"/>
                </a:solidFill>
                <a:latin typeface="Calibri"/>
              </a:defRPr>
            </a:pPr>
            <a:r>
              <a:t>1</a:t>
            </a:r>
          </a:p>
        </p:txBody>
      </p:sp>
      <p:sp>
        <p:nvSpPr>
          <p:cNvPr id="8" name="TextBox 7"/>
          <p:cNvSpPr txBox="1"/>
          <p:nvPr/>
        </p:nvSpPr>
        <p:spPr>
          <a:xfrm>
            <a:off x="1234440" y="2148840"/>
            <a:ext cx="2011680" cy="365760"/>
          </a:xfrm>
          <a:prstGeom prst="rect">
            <a:avLst/>
          </a:prstGeom>
          <a:noFill/>
        </p:spPr>
        <p:txBody>
          <a:bodyPr wrap="square">
            <a:spAutoFit/>
          </a:bodyPr>
          <a:lstStyle/>
          <a:p>
            <a:pPr algn="l">
              <a:lnSpc>
                <a:spcPts val="1560"/>
              </a:lnSpc>
              <a:spcBef>
                <a:spcPts val="0"/>
              </a:spcBef>
              <a:spcAft>
                <a:spcPts val="0"/>
              </a:spcAft>
              <a:defRPr sz="1300" b="1">
                <a:solidFill>
                  <a:srgbClr val="007BFF"/>
                </a:solidFill>
                <a:latin typeface="Calibri"/>
              </a:defRPr>
            </a:pPr>
            <a:r>
              <a:t>RECONNAISSANCE</a:t>
            </a:r>
          </a:p>
        </p:txBody>
      </p:sp>
      <p:sp>
        <p:nvSpPr>
          <p:cNvPr id="9" name="Rounded Rectangle 8"/>
          <p:cNvSpPr/>
          <p:nvPr/>
        </p:nvSpPr>
        <p:spPr>
          <a:xfrm>
            <a:off x="731520" y="2651760"/>
            <a:ext cx="2560320" cy="347472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834640"/>
            <a:ext cx="2194560" cy="3200400"/>
          </a:xfrm>
          <a:prstGeom prst="rect">
            <a:avLst/>
          </a:prstGeom>
          <a:noFill/>
        </p:spPr>
        <p:txBody>
          <a:bodyPr wrap="square">
            <a:spAutoFit/>
          </a:bodyPr>
          <a:lstStyle/>
          <a:p>
            <a:pPr algn="l">
              <a:lnSpc>
                <a:spcPts val="1980"/>
              </a:lnSpc>
              <a:spcAft>
                <a:spcPts val="600"/>
              </a:spcAft>
              <a:defRPr sz="1100">
                <a:solidFill>
                  <a:srgbClr val="CCCCCC"/>
                </a:solidFill>
                <a:latin typeface="Calibri"/>
              </a:defRPr>
            </a:pPr>
            <a:r>
              <a:t>•  Researched MGM employees on LinkedIn</a:t>
            </a:r>
          </a:p>
          <a:p>
            <a:pPr algn="l">
              <a:lnSpc>
                <a:spcPts val="1980"/>
              </a:lnSpc>
              <a:spcAft>
                <a:spcPts val="600"/>
              </a:spcAft>
              <a:defRPr sz="1100">
                <a:solidFill>
                  <a:srgbClr val="CCCCCC"/>
                </a:solidFill>
                <a:latin typeface="Calibri"/>
              </a:defRPr>
            </a:pPr>
            <a:r>
              <a:t>•  Identified high-privilege IT staff</a:t>
            </a:r>
          </a:p>
          <a:p>
            <a:pPr algn="l">
              <a:lnSpc>
                <a:spcPts val="1980"/>
              </a:lnSpc>
              <a:spcAft>
                <a:spcPts val="600"/>
              </a:spcAft>
              <a:defRPr sz="1100">
                <a:solidFill>
                  <a:srgbClr val="CCCCCC"/>
                </a:solidFill>
                <a:latin typeface="Calibri"/>
              </a:defRPr>
            </a:pPr>
            <a:r>
              <a:t>•  Gathered personal details for impersonation</a:t>
            </a:r>
          </a:p>
          <a:p>
            <a:pPr algn="l">
              <a:lnSpc>
                <a:spcPts val="1980"/>
              </a:lnSpc>
              <a:spcAft>
                <a:spcPts val="600"/>
              </a:spcAft>
              <a:defRPr sz="1100">
                <a:solidFill>
                  <a:srgbClr val="CCCCCC"/>
                </a:solidFill>
                <a:latin typeface="Calibri"/>
              </a:defRPr>
            </a:pPr>
            <a:r>
              <a:t>•  Leveraged credentials from prior data breaches</a:t>
            </a:r>
          </a:p>
        </p:txBody>
      </p:sp>
      <p:sp>
        <p:nvSpPr>
          <p:cNvPr id="11" name="Rounded Rectangle 10"/>
          <p:cNvSpPr/>
          <p:nvPr/>
        </p:nvSpPr>
        <p:spPr>
          <a:xfrm>
            <a:off x="3566160" y="2103120"/>
            <a:ext cx="411480" cy="411480"/>
          </a:xfrm>
          <a:prstGeom prst="roundRect">
            <a:avLst>
              <a:gd name="adj" fmla="val 15000"/>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2121408"/>
            <a:ext cx="411480" cy="411480"/>
          </a:xfrm>
          <a:prstGeom prst="rect">
            <a:avLst/>
          </a:prstGeom>
          <a:noFill/>
        </p:spPr>
        <p:txBody>
          <a:bodyPr wrap="square">
            <a:spAutoFit/>
          </a:bodyPr>
          <a:lstStyle/>
          <a:p>
            <a:pPr algn="ctr">
              <a:lnSpc>
                <a:spcPts val="2160"/>
              </a:lnSpc>
              <a:spcBef>
                <a:spcPts val="0"/>
              </a:spcBef>
              <a:spcAft>
                <a:spcPts val="0"/>
              </a:spcAft>
              <a:defRPr sz="1800" b="1">
                <a:solidFill>
                  <a:srgbClr val="FFFFFF"/>
                </a:solidFill>
                <a:latin typeface="Calibri"/>
              </a:defRPr>
            </a:pPr>
            <a:r>
              <a:t>2</a:t>
            </a:r>
          </a:p>
        </p:txBody>
      </p:sp>
      <p:sp>
        <p:nvSpPr>
          <p:cNvPr id="13" name="TextBox 12"/>
          <p:cNvSpPr txBox="1"/>
          <p:nvPr/>
        </p:nvSpPr>
        <p:spPr>
          <a:xfrm>
            <a:off x="4069080" y="2148840"/>
            <a:ext cx="2011680" cy="365760"/>
          </a:xfrm>
          <a:prstGeom prst="rect">
            <a:avLst/>
          </a:prstGeom>
          <a:noFill/>
        </p:spPr>
        <p:txBody>
          <a:bodyPr wrap="square">
            <a:spAutoFit/>
          </a:bodyPr>
          <a:lstStyle/>
          <a:p>
            <a:pPr algn="l">
              <a:lnSpc>
                <a:spcPts val="1560"/>
              </a:lnSpc>
              <a:spcBef>
                <a:spcPts val="0"/>
              </a:spcBef>
              <a:spcAft>
                <a:spcPts val="0"/>
              </a:spcAft>
              <a:defRPr sz="1300" b="1">
                <a:solidFill>
                  <a:srgbClr val="FFB800"/>
                </a:solidFill>
                <a:latin typeface="Calibri"/>
              </a:defRPr>
            </a:pPr>
            <a:r>
              <a:t>INITIAL ACCESS</a:t>
            </a:r>
          </a:p>
        </p:txBody>
      </p:sp>
      <p:sp>
        <p:nvSpPr>
          <p:cNvPr id="14" name="Rounded Rectangle 13"/>
          <p:cNvSpPr/>
          <p:nvPr/>
        </p:nvSpPr>
        <p:spPr>
          <a:xfrm>
            <a:off x="3566160" y="2651760"/>
            <a:ext cx="2560320" cy="347472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40" y="2834640"/>
            <a:ext cx="2194560" cy="3200400"/>
          </a:xfrm>
          <a:prstGeom prst="rect">
            <a:avLst/>
          </a:prstGeom>
          <a:noFill/>
        </p:spPr>
        <p:txBody>
          <a:bodyPr wrap="square">
            <a:spAutoFit/>
          </a:bodyPr>
          <a:lstStyle/>
          <a:p>
            <a:pPr algn="l">
              <a:lnSpc>
                <a:spcPts val="1980"/>
              </a:lnSpc>
              <a:spcAft>
                <a:spcPts val="600"/>
              </a:spcAft>
              <a:defRPr sz="1100">
                <a:solidFill>
                  <a:srgbClr val="CCCCCC"/>
                </a:solidFill>
                <a:latin typeface="Calibri"/>
              </a:defRPr>
            </a:pPr>
            <a:r>
              <a:t>•  Vishing call to MGM IT help desk</a:t>
            </a:r>
          </a:p>
          <a:p>
            <a:pPr algn="l">
              <a:lnSpc>
                <a:spcPts val="1980"/>
              </a:lnSpc>
              <a:spcAft>
                <a:spcPts val="600"/>
              </a:spcAft>
              <a:defRPr sz="1100">
                <a:solidFill>
                  <a:srgbClr val="CCCCCC"/>
                </a:solidFill>
                <a:latin typeface="Calibri"/>
              </a:defRPr>
            </a:pPr>
            <a:r>
              <a:t>•  Impersonated targeted employee</a:t>
            </a:r>
          </a:p>
          <a:p>
            <a:pPr algn="l">
              <a:lnSpc>
                <a:spcPts val="1980"/>
              </a:lnSpc>
              <a:spcAft>
                <a:spcPts val="600"/>
              </a:spcAft>
              <a:defRPr sz="1100">
                <a:solidFill>
                  <a:srgbClr val="CCCCCC"/>
                </a:solidFill>
                <a:latin typeface="Calibri"/>
              </a:defRPr>
            </a:pPr>
            <a:r>
              <a:t>•  Convinced help desk to reset MFA</a:t>
            </a:r>
          </a:p>
          <a:p>
            <a:pPr algn="l">
              <a:lnSpc>
                <a:spcPts val="1980"/>
              </a:lnSpc>
              <a:spcAft>
                <a:spcPts val="600"/>
              </a:spcAft>
              <a:defRPr sz="1100">
                <a:solidFill>
                  <a:srgbClr val="CCCCCC"/>
                </a:solidFill>
                <a:latin typeface="Calibri"/>
              </a:defRPr>
            </a:pPr>
            <a:r>
              <a:t>•  10-minute call granted full access</a:t>
            </a:r>
          </a:p>
        </p:txBody>
      </p:sp>
      <p:sp>
        <p:nvSpPr>
          <p:cNvPr id="16" name="Rounded Rectangle 15"/>
          <p:cNvSpPr/>
          <p:nvPr/>
        </p:nvSpPr>
        <p:spPr>
          <a:xfrm>
            <a:off x="6400800" y="2103120"/>
            <a:ext cx="411480" cy="411480"/>
          </a:xfrm>
          <a:prstGeom prst="roundRect">
            <a:avLst>
              <a:gd name="adj" fmla="val 15000"/>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2121408"/>
            <a:ext cx="411480" cy="411480"/>
          </a:xfrm>
          <a:prstGeom prst="rect">
            <a:avLst/>
          </a:prstGeom>
          <a:noFill/>
        </p:spPr>
        <p:txBody>
          <a:bodyPr wrap="square">
            <a:spAutoFit/>
          </a:bodyPr>
          <a:lstStyle/>
          <a:p>
            <a:pPr algn="ctr">
              <a:lnSpc>
                <a:spcPts val="2160"/>
              </a:lnSpc>
              <a:spcBef>
                <a:spcPts val="0"/>
              </a:spcBef>
              <a:spcAft>
                <a:spcPts val="0"/>
              </a:spcAft>
              <a:defRPr sz="1800" b="1">
                <a:solidFill>
                  <a:srgbClr val="FFFFFF"/>
                </a:solidFill>
                <a:latin typeface="Calibri"/>
              </a:defRPr>
            </a:pPr>
            <a:r>
              <a:t>3</a:t>
            </a:r>
          </a:p>
        </p:txBody>
      </p:sp>
      <p:sp>
        <p:nvSpPr>
          <p:cNvPr id="18" name="TextBox 17"/>
          <p:cNvSpPr txBox="1"/>
          <p:nvPr/>
        </p:nvSpPr>
        <p:spPr>
          <a:xfrm>
            <a:off x="6903720" y="2148840"/>
            <a:ext cx="2011680" cy="365760"/>
          </a:xfrm>
          <a:prstGeom prst="rect">
            <a:avLst/>
          </a:prstGeom>
          <a:noFill/>
        </p:spPr>
        <p:txBody>
          <a:bodyPr wrap="square">
            <a:spAutoFit/>
          </a:bodyPr>
          <a:lstStyle/>
          <a:p>
            <a:pPr algn="l">
              <a:lnSpc>
                <a:spcPts val="1560"/>
              </a:lnSpc>
              <a:spcBef>
                <a:spcPts val="0"/>
              </a:spcBef>
              <a:spcAft>
                <a:spcPts val="0"/>
              </a:spcAft>
              <a:defRPr sz="1300" b="1">
                <a:solidFill>
                  <a:srgbClr val="E83E3E"/>
                </a:solidFill>
                <a:latin typeface="Calibri"/>
              </a:defRPr>
            </a:pPr>
            <a:r>
              <a:t>PERSISTENCE</a:t>
            </a:r>
          </a:p>
        </p:txBody>
      </p:sp>
      <p:sp>
        <p:nvSpPr>
          <p:cNvPr id="19" name="Rounded Rectangle 18"/>
          <p:cNvSpPr/>
          <p:nvPr/>
        </p:nvSpPr>
        <p:spPr>
          <a:xfrm>
            <a:off x="6400800" y="2651760"/>
            <a:ext cx="2560320" cy="347472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2834640"/>
            <a:ext cx="2194560" cy="3200400"/>
          </a:xfrm>
          <a:prstGeom prst="rect">
            <a:avLst/>
          </a:prstGeom>
          <a:noFill/>
        </p:spPr>
        <p:txBody>
          <a:bodyPr wrap="square">
            <a:spAutoFit/>
          </a:bodyPr>
          <a:lstStyle/>
          <a:p>
            <a:pPr algn="l">
              <a:lnSpc>
                <a:spcPts val="1980"/>
              </a:lnSpc>
              <a:spcAft>
                <a:spcPts val="600"/>
              </a:spcAft>
              <a:defRPr sz="1100">
                <a:solidFill>
                  <a:srgbClr val="CCCCCC"/>
                </a:solidFill>
                <a:latin typeface="Calibri"/>
              </a:defRPr>
            </a:pPr>
            <a:r>
              <a:t>•  Configured rogue IdP via Okta inbound federation</a:t>
            </a:r>
          </a:p>
          <a:p>
            <a:pPr algn="l">
              <a:lnSpc>
                <a:spcPts val="1980"/>
              </a:lnSpc>
              <a:spcAft>
                <a:spcPts val="600"/>
              </a:spcAft>
              <a:defRPr sz="1100">
                <a:solidFill>
                  <a:srgbClr val="CCCCCC"/>
                </a:solidFill>
                <a:latin typeface="Calibri"/>
              </a:defRPr>
            </a:pPr>
            <a:r>
              <a:t>•  Gained admin access to Okta &amp; Azure</a:t>
            </a:r>
          </a:p>
          <a:p>
            <a:pPr algn="l">
              <a:lnSpc>
                <a:spcPts val="1980"/>
              </a:lnSpc>
              <a:spcAft>
                <a:spcPts val="600"/>
              </a:spcAft>
              <a:defRPr sz="1100">
                <a:solidFill>
                  <a:srgbClr val="CCCCCC"/>
                </a:solidFill>
                <a:latin typeface="Calibri"/>
              </a:defRPr>
            </a:pPr>
            <a:r>
              <a:t>•  Deployed credential harvesting tools</a:t>
            </a:r>
          </a:p>
          <a:p>
            <a:pPr algn="l">
              <a:lnSpc>
                <a:spcPts val="1980"/>
              </a:lnSpc>
              <a:spcAft>
                <a:spcPts val="600"/>
              </a:spcAft>
              <a:defRPr sz="1100">
                <a:solidFill>
                  <a:srgbClr val="CCCCCC"/>
                </a:solidFill>
                <a:latin typeface="Calibri"/>
              </a:defRPr>
            </a:pPr>
            <a:r>
              <a:t>•  Created backdoors for continued access</a:t>
            </a:r>
          </a:p>
        </p:txBody>
      </p:sp>
      <p:sp>
        <p:nvSpPr>
          <p:cNvPr id="21" name="Rounded Rectangle 20"/>
          <p:cNvSpPr/>
          <p:nvPr/>
        </p:nvSpPr>
        <p:spPr>
          <a:xfrm>
            <a:off x="9235440" y="2103120"/>
            <a:ext cx="411480" cy="411480"/>
          </a:xfrm>
          <a:prstGeom prst="roundRect">
            <a:avLst>
              <a:gd name="adj" fmla="val 15000"/>
            </a:avLst>
          </a:prstGeom>
          <a:solidFill>
            <a:srgbClr val="AA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0" y="2121408"/>
            <a:ext cx="411480" cy="411480"/>
          </a:xfrm>
          <a:prstGeom prst="rect">
            <a:avLst/>
          </a:prstGeom>
          <a:noFill/>
        </p:spPr>
        <p:txBody>
          <a:bodyPr wrap="square">
            <a:spAutoFit/>
          </a:bodyPr>
          <a:lstStyle/>
          <a:p>
            <a:pPr algn="ctr">
              <a:lnSpc>
                <a:spcPts val="2160"/>
              </a:lnSpc>
              <a:spcBef>
                <a:spcPts val="0"/>
              </a:spcBef>
              <a:spcAft>
                <a:spcPts val="0"/>
              </a:spcAft>
              <a:defRPr sz="1800" b="1">
                <a:solidFill>
                  <a:srgbClr val="FFFFFF"/>
                </a:solidFill>
                <a:latin typeface="Calibri"/>
              </a:defRPr>
            </a:pPr>
            <a:r>
              <a:t>4</a:t>
            </a:r>
          </a:p>
        </p:txBody>
      </p:sp>
      <p:sp>
        <p:nvSpPr>
          <p:cNvPr id="23" name="TextBox 22"/>
          <p:cNvSpPr txBox="1"/>
          <p:nvPr/>
        </p:nvSpPr>
        <p:spPr>
          <a:xfrm>
            <a:off x="9738360" y="2148840"/>
            <a:ext cx="2011680" cy="365760"/>
          </a:xfrm>
          <a:prstGeom prst="rect">
            <a:avLst/>
          </a:prstGeom>
          <a:noFill/>
        </p:spPr>
        <p:txBody>
          <a:bodyPr wrap="square">
            <a:spAutoFit/>
          </a:bodyPr>
          <a:lstStyle/>
          <a:p>
            <a:pPr algn="l">
              <a:lnSpc>
                <a:spcPts val="1560"/>
              </a:lnSpc>
              <a:spcBef>
                <a:spcPts val="0"/>
              </a:spcBef>
              <a:spcAft>
                <a:spcPts val="0"/>
              </a:spcAft>
              <a:defRPr sz="1300" b="1">
                <a:solidFill>
                  <a:srgbClr val="AA00FF"/>
                </a:solidFill>
                <a:latin typeface="Calibri"/>
              </a:defRPr>
            </a:pPr>
            <a:r>
              <a:t>RANSOMWARE</a:t>
            </a:r>
          </a:p>
        </p:txBody>
      </p:sp>
      <p:sp>
        <p:nvSpPr>
          <p:cNvPr id="24" name="Rounded Rectangle 23"/>
          <p:cNvSpPr/>
          <p:nvPr/>
        </p:nvSpPr>
        <p:spPr>
          <a:xfrm>
            <a:off x="9235440" y="2651760"/>
            <a:ext cx="2560320" cy="347472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0" y="2834640"/>
            <a:ext cx="2194560" cy="3200400"/>
          </a:xfrm>
          <a:prstGeom prst="rect">
            <a:avLst/>
          </a:prstGeom>
          <a:noFill/>
        </p:spPr>
        <p:txBody>
          <a:bodyPr wrap="square">
            <a:spAutoFit/>
          </a:bodyPr>
          <a:lstStyle/>
          <a:p>
            <a:pPr algn="l">
              <a:lnSpc>
                <a:spcPts val="1980"/>
              </a:lnSpc>
              <a:spcAft>
                <a:spcPts val="600"/>
              </a:spcAft>
              <a:defRPr sz="1100">
                <a:solidFill>
                  <a:srgbClr val="CCCCCC"/>
                </a:solidFill>
                <a:latin typeface="Calibri"/>
              </a:defRPr>
            </a:pPr>
            <a:r>
              <a:t>•  ALPHV deployed BlackCat ransomware</a:t>
            </a:r>
          </a:p>
          <a:p>
            <a:pPr algn="l">
              <a:lnSpc>
                <a:spcPts val="1980"/>
              </a:lnSpc>
              <a:spcAft>
                <a:spcPts val="600"/>
              </a:spcAft>
              <a:defRPr sz="1100">
                <a:solidFill>
                  <a:srgbClr val="CCCCCC"/>
                </a:solidFill>
                <a:latin typeface="Calibri"/>
              </a:defRPr>
            </a:pPr>
            <a:r>
              <a:t>•  Encrypted 100+ ESXi hypervisors</a:t>
            </a:r>
          </a:p>
          <a:p>
            <a:pPr algn="l">
              <a:lnSpc>
                <a:spcPts val="1980"/>
              </a:lnSpc>
              <a:spcAft>
                <a:spcPts val="600"/>
              </a:spcAft>
              <a:defRPr sz="1100">
                <a:solidFill>
                  <a:srgbClr val="CCCCCC"/>
                </a:solidFill>
                <a:latin typeface="Calibri"/>
              </a:defRPr>
            </a:pPr>
            <a:r>
              <a:t>•  Exfiltrated 6 TB of customer data</a:t>
            </a:r>
          </a:p>
          <a:p>
            <a:pPr algn="l">
              <a:lnSpc>
                <a:spcPts val="1980"/>
              </a:lnSpc>
              <a:spcAft>
                <a:spcPts val="600"/>
              </a:spcAft>
              <a:defRPr sz="1100">
                <a:solidFill>
                  <a:srgbClr val="CCCCCC"/>
                </a:solidFill>
                <a:latin typeface="Calibri"/>
              </a:defRPr>
            </a:pPr>
            <a:r>
              <a:t>•  Demanded $30 million ransom payment</a:t>
            </a:r>
          </a:p>
        </p:txBody>
      </p:sp>
      <p:sp>
        <p:nvSpPr>
          <p:cNvPr id="26" name="TextBox 25"/>
          <p:cNvSpPr txBox="1"/>
          <p:nvPr/>
        </p:nvSpPr>
        <p:spPr>
          <a:xfrm>
            <a:off x="3291840" y="2148840"/>
            <a:ext cx="274320" cy="365760"/>
          </a:xfrm>
          <a:prstGeom prst="rect">
            <a:avLst/>
          </a:prstGeom>
          <a:noFill/>
        </p:spPr>
        <p:txBody>
          <a:bodyPr wrap="square">
            <a:spAutoFit/>
          </a:bodyPr>
          <a:lstStyle/>
          <a:p>
            <a:pPr algn="ctr">
              <a:lnSpc>
                <a:spcPts val="1920"/>
              </a:lnSpc>
              <a:spcBef>
                <a:spcPts val="0"/>
              </a:spcBef>
              <a:spcAft>
                <a:spcPts val="0"/>
              </a:spcAft>
              <a:defRPr sz="1600" b="0">
                <a:solidFill>
                  <a:srgbClr val="999999"/>
                </a:solidFill>
                <a:latin typeface="Calibri"/>
              </a:defRPr>
            </a:pPr>
            <a:r>
              <a:t>▶</a:t>
            </a:r>
          </a:p>
        </p:txBody>
      </p:sp>
      <p:sp>
        <p:nvSpPr>
          <p:cNvPr id="27" name="TextBox 26"/>
          <p:cNvSpPr txBox="1"/>
          <p:nvPr/>
        </p:nvSpPr>
        <p:spPr>
          <a:xfrm>
            <a:off x="6126480" y="2148840"/>
            <a:ext cx="274320" cy="365760"/>
          </a:xfrm>
          <a:prstGeom prst="rect">
            <a:avLst/>
          </a:prstGeom>
          <a:noFill/>
        </p:spPr>
        <p:txBody>
          <a:bodyPr wrap="square">
            <a:spAutoFit/>
          </a:bodyPr>
          <a:lstStyle/>
          <a:p>
            <a:pPr algn="ctr">
              <a:lnSpc>
                <a:spcPts val="1920"/>
              </a:lnSpc>
              <a:spcBef>
                <a:spcPts val="0"/>
              </a:spcBef>
              <a:spcAft>
                <a:spcPts val="0"/>
              </a:spcAft>
              <a:defRPr sz="1600" b="0">
                <a:solidFill>
                  <a:srgbClr val="999999"/>
                </a:solidFill>
                <a:latin typeface="Calibri"/>
              </a:defRPr>
            </a:pPr>
            <a:r>
              <a:t>▶</a:t>
            </a:r>
          </a:p>
        </p:txBody>
      </p:sp>
      <p:sp>
        <p:nvSpPr>
          <p:cNvPr id="28" name="TextBox 27"/>
          <p:cNvSpPr txBox="1"/>
          <p:nvPr/>
        </p:nvSpPr>
        <p:spPr>
          <a:xfrm>
            <a:off x="8961120" y="2148840"/>
            <a:ext cx="274320" cy="365760"/>
          </a:xfrm>
          <a:prstGeom prst="rect">
            <a:avLst/>
          </a:prstGeom>
          <a:noFill/>
        </p:spPr>
        <p:txBody>
          <a:bodyPr wrap="square">
            <a:spAutoFit/>
          </a:bodyPr>
          <a:lstStyle/>
          <a:p>
            <a:pPr algn="ctr">
              <a:lnSpc>
                <a:spcPts val="1920"/>
              </a:lnSpc>
              <a:spcBef>
                <a:spcPts val="0"/>
              </a:spcBef>
              <a:spcAft>
                <a:spcPts val="0"/>
              </a:spcAft>
              <a:defRPr sz="1600" b="0">
                <a:solidFill>
                  <a:srgbClr val="999999"/>
                </a:solidFill>
                <a:latin typeface="Calibri"/>
              </a:defRPr>
            </a:pPr>
            <a:r>
              <a:t>▶</a:t>
            </a:r>
          </a:p>
        </p:txBody>
      </p:sp>
      <p:sp>
        <p:nvSpPr>
          <p:cNvPr id="29" name="TextBox 28"/>
          <p:cNvSpPr txBox="1"/>
          <p:nvPr/>
        </p:nvSpPr>
        <p:spPr>
          <a:xfrm>
            <a:off x="11155680" y="6400800"/>
            <a:ext cx="914400" cy="365760"/>
          </a:xfrm>
          <a:prstGeom prst="rect">
            <a:avLst/>
          </a:prstGeom>
          <a:noFill/>
        </p:spPr>
        <p:txBody>
          <a:bodyPr wrap="square">
            <a:spAutoFit/>
          </a:bodyPr>
          <a:lstStyle/>
          <a:p>
            <a:pPr algn="r">
              <a:lnSpc>
                <a:spcPts val="1200"/>
              </a:lnSpc>
              <a:spcBef>
                <a:spcPts val="0"/>
              </a:spcBef>
              <a:spcAft>
                <a:spcPts val="0"/>
              </a:spcAft>
              <a:defRPr sz="1000" b="0">
                <a:solidFill>
                  <a:srgbClr val="999999"/>
                </a:solidFill>
                <a:latin typeface="Calibri"/>
              </a:defRPr>
            </a:pPr>
            <a: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2743200" cy="45720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05  SIGNIFICANCE</a:t>
            </a:r>
          </a:p>
        </p:txBody>
      </p:sp>
      <p:sp>
        <p:nvSpPr>
          <p:cNvPr id="4" name="TextBox 3"/>
          <p:cNvSpPr txBox="1"/>
          <p:nvPr/>
        </p:nvSpPr>
        <p:spPr>
          <a:xfrm>
            <a:off x="731520" y="914400"/>
            <a:ext cx="9144000" cy="64008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Why This Case Became Important</a:t>
            </a:r>
          </a:p>
        </p:txBody>
      </p:sp>
      <p:sp>
        <p:nvSpPr>
          <p:cNvPr id="5" name="Rectangle 4"/>
          <p:cNvSpPr/>
          <p:nvPr/>
        </p:nvSpPr>
        <p:spPr>
          <a:xfrm>
            <a:off x="731520" y="1645920"/>
            <a:ext cx="228600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03120"/>
            <a:ext cx="5212080" cy="192024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103120"/>
            <a:ext cx="109728" cy="192024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28600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E83E3E"/>
                </a:solidFill>
                <a:latin typeface="Calibri"/>
              </a:defRPr>
            </a:pPr>
            <a:r>
              <a:t>Scale of Disruption</a:t>
            </a:r>
          </a:p>
        </p:txBody>
      </p:sp>
      <p:sp>
        <p:nvSpPr>
          <p:cNvPr id="9" name="TextBox 8"/>
          <p:cNvSpPr txBox="1"/>
          <p:nvPr/>
        </p:nvSpPr>
        <p:spPr>
          <a:xfrm>
            <a:off x="1097280" y="2743200"/>
            <a:ext cx="4572000" cy="1097280"/>
          </a:xfrm>
          <a:prstGeom prst="rect">
            <a:avLst/>
          </a:prstGeom>
          <a:noFill/>
        </p:spPr>
        <p:txBody>
          <a:bodyPr wrap="square">
            <a:spAutoFit/>
          </a:bodyPr>
          <a:lstStyle/>
          <a:p>
            <a:pPr algn="l">
              <a:lnSpc>
                <a:spcPts val="1800"/>
              </a:lnSpc>
              <a:spcBef>
                <a:spcPts val="0"/>
              </a:spcBef>
              <a:spcAft>
                <a:spcPts val="0"/>
              </a:spcAft>
              <a:defRPr sz="1200" b="0">
                <a:solidFill>
                  <a:srgbClr val="CCCCCC"/>
                </a:solidFill>
                <a:latin typeface="Calibri"/>
              </a:defRPr>
            </a:pPr>
            <a:r>
              <a:t>One of the largest hospitality cyberattacks in history. 29 properties across the United States were simultaneously affected, with core services paralyzed for 10 days.</a:t>
            </a:r>
          </a:p>
        </p:txBody>
      </p:sp>
      <p:sp>
        <p:nvSpPr>
          <p:cNvPr id="10" name="Rounded Rectangle 9"/>
          <p:cNvSpPr/>
          <p:nvPr/>
        </p:nvSpPr>
        <p:spPr>
          <a:xfrm>
            <a:off x="6217920" y="2103120"/>
            <a:ext cx="5212080" cy="192024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103120"/>
            <a:ext cx="109728" cy="192024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228600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FFB800"/>
                </a:solidFill>
                <a:latin typeface="Calibri"/>
              </a:defRPr>
            </a:pPr>
            <a:r>
              <a:t>Human Factor Vulnerability</a:t>
            </a:r>
          </a:p>
        </p:txBody>
      </p:sp>
      <p:sp>
        <p:nvSpPr>
          <p:cNvPr id="13" name="TextBox 12"/>
          <p:cNvSpPr txBox="1"/>
          <p:nvPr/>
        </p:nvSpPr>
        <p:spPr>
          <a:xfrm>
            <a:off x="6583680" y="2743200"/>
            <a:ext cx="4572000" cy="1097280"/>
          </a:xfrm>
          <a:prstGeom prst="rect">
            <a:avLst/>
          </a:prstGeom>
          <a:noFill/>
        </p:spPr>
        <p:txBody>
          <a:bodyPr wrap="square">
            <a:spAutoFit/>
          </a:bodyPr>
          <a:lstStyle/>
          <a:p>
            <a:pPr algn="l">
              <a:lnSpc>
                <a:spcPts val="1800"/>
              </a:lnSpc>
              <a:spcBef>
                <a:spcPts val="0"/>
              </a:spcBef>
              <a:spcAft>
                <a:spcPts val="0"/>
              </a:spcAft>
              <a:defRPr sz="1200" b="0">
                <a:solidFill>
                  <a:srgbClr val="CCCCCC"/>
                </a:solidFill>
                <a:latin typeface="Calibri"/>
              </a:defRPr>
            </a:pPr>
            <a:r>
              <a:t>Demonstrated that even billion-dollar enterprises can be compromised through a single 10-minute phone call. Social engineering bypassed all technical security controls.</a:t>
            </a:r>
          </a:p>
        </p:txBody>
      </p:sp>
      <p:sp>
        <p:nvSpPr>
          <p:cNvPr id="14" name="Rounded Rectangle 13"/>
          <p:cNvSpPr/>
          <p:nvPr/>
        </p:nvSpPr>
        <p:spPr>
          <a:xfrm>
            <a:off x="731520" y="4389120"/>
            <a:ext cx="5212080" cy="192024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389120"/>
            <a:ext cx="109728" cy="192024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57200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007BFF"/>
                </a:solidFill>
                <a:latin typeface="Calibri"/>
              </a:defRPr>
            </a:pPr>
            <a:r>
              <a:t>Industry-Wide Impact</a:t>
            </a:r>
          </a:p>
        </p:txBody>
      </p:sp>
      <p:sp>
        <p:nvSpPr>
          <p:cNvPr id="17" name="TextBox 16"/>
          <p:cNvSpPr txBox="1"/>
          <p:nvPr/>
        </p:nvSpPr>
        <p:spPr>
          <a:xfrm>
            <a:off x="1097280" y="5029200"/>
            <a:ext cx="4572000" cy="1097280"/>
          </a:xfrm>
          <a:prstGeom prst="rect">
            <a:avLst/>
          </a:prstGeom>
          <a:noFill/>
        </p:spPr>
        <p:txBody>
          <a:bodyPr wrap="square">
            <a:spAutoFit/>
          </a:bodyPr>
          <a:lstStyle/>
          <a:p>
            <a:pPr algn="l">
              <a:lnSpc>
                <a:spcPts val="1800"/>
              </a:lnSpc>
              <a:spcBef>
                <a:spcPts val="0"/>
              </a:spcBef>
              <a:spcAft>
                <a:spcPts val="0"/>
              </a:spcAft>
              <a:defRPr sz="1200" b="0">
                <a:solidFill>
                  <a:srgbClr val="CCCCCC"/>
                </a:solidFill>
                <a:latin typeface="Calibri"/>
              </a:defRPr>
            </a:pPr>
            <a:r>
              <a:t>Occurred alongside the Caesars Entertainment attack (who paid ransom). Prompted industry-wide reassessment of identity management and help desk verification procedures.</a:t>
            </a:r>
          </a:p>
        </p:txBody>
      </p:sp>
      <p:sp>
        <p:nvSpPr>
          <p:cNvPr id="18" name="Rounded Rectangle 17"/>
          <p:cNvSpPr/>
          <p:nvPr/>
        </p:nvSpPr>
        <p:spPr>
          <a:xfrm>
            <a:off x="6217920" y="4389120"/>
            <a:ext cx="5212080" cy="192024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89120"/>
            <a:ext cx="109728" cy="1920240"/>
          </a:xfrm>
          <a:prstGeom prst="rect">
            <a:avLst/>
          </a:prstGeom>
          <a:solidFill>
            <a:srgbClr val="00C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4572000"/>
            <a:ext cx="4572000" cy="365760"/>
          </a:xfrm>
          <a:prstGeom prst="rect">
            <a:avLst/>
          </a:prstGeom>
          <a:noFill/>
        </p:spPr>
        <p:txBody>
          <a:bodyPr wrap="square">
            <a:spAutoFit/>
          </a:bodyPr>
          <a:lstStyle/>
          <a:p>
            <a:pPr algn="l">
              <a:lnSpc>
                <a:spcPts val="1920"/>
              </a:lnSpc>
              <a:spcBef>
                <a:spcPts val="0"/>
              </a:spcBef>
              <a:spcAft>
                <a:spcPts val="0"/>
              </a:spcAft>
              <a:defRPr sz="1600" b="1">
                <a:solidFill>
                  <a:srgbClr val="00C97B"/>
                </a:solidFill>
                <a:latin typeface="Calibri"/>
              </a:defRPr>
            </a:pPr>
            <a:r>
              <a:t>Regulatory Attention</a:t>
            </a:r>
          </a:p>
        </p:txBody>
      </p:sp>
      <p:sp>
        <p:nvSpPr>
          <p:cNvPr id="21" name="TextBox 20"/>
          <p:cNvSpPr txBox="1"/>
          <p:nvPr/>
        </p:nvSpPr>
        <p:spPr>
          <a:xfrm>
            <a:off x="6583680" y="5029200"/>
            <a:ext cx="4572000" cy="1097280"/>
          </a:xfrm>
          <a:prstGeom prst="rect">
            <a:avLst/>
          </a:prstGeom>
          <a:noFill/>
        </p:spPr>
        <p:txBody>
          <a:bodyPr wrap="square">
            <a:spAutoFit/>
          </a:bodyPr>
          <a:lstStyle/>
          <a:p>
            <a:pPr algn="l">
              <a:lnSpc>
                <a:spcPts val="1800"/>
              </a:lnSpc>
              <a:spcBef>
                <a:spcPts val="0"/>
              </a:spcBef>
              <a:spcAft>
                <a:spcPts val="0"/>
              </a:spcAft>
              <a:defRPr sz="1200" b="0">
                <a:solidFill>
                  <a:srgbClr val="CCCCCC"/>
                </a:solidFill>
                <a:latin typeface="Calibri"/>
              </a:defRPr>
            </a:pPr>
            <a:r>
              <a:t>Triggered investigations by the FBI, FTC, SEC, and state regulators. Led to debates about corporate cybersecurity obligations and the adequacy of data protection frameworks.</a:t>
            </a:r>
          </a:p>
        </p:txBody>
      </p:sp>
      <p:sp>
        <p:nvSpPr>
          <p:cNvPr id="22" name="TextBox 21"/>
          <p:cNvSpPr txBox="1"/>
          <p:nvPr/>
        </p:nvSpPr>
        <p:spPr>
          <a:xfrm>
            <a:off x="11155680" y="6400800"/>
            <a:ext cx="914400" cy="365760"/>
          </a:xfrm>
          <a:prstGeom prst="rect">
            <a:avLst/>
          </a:prstGeom>
          <a:noFill/>
        </p:spPr>
        <p:txBody>
          <a:bodyPr wrap="square">
            <a:spAutoFit/>
          </a:bodyPr>
          <a:lstStyle/>
          <a:p>
            <a:pPr algn="r">
              <a:lnSpc>
                <a:spcPts val="1200"/>
              </a:lnSpc>
              <a:spcBef>
                <a:spcPts val="0"/>
              </a:spcBef>
              <a:spcAft>
                <a:spcPts val="0"/>
              </a:spcAft>
              <a:defRPr sz="1000" b="0">
                <a:solidFill>
                  <a:srgbClr val="999999"/>
                </a:solidFill>
                <a:latin typeface="Calibri"/>
              </a:defRPr>
            </a:pPr>
            <a: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45720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06  ISSUES ANALYSIS</a:t>
            </a:r>
          </a:p>
        </p:txBody>
      </p:sp>
      <p:sp>
        <p:nvSpPr>
          <p:cNvPr id="4" name="TextBox 3"/>
          <p:cNvSpPr txBox="1"/>
          <p:nvPr/>
        </p:nvSpPr>
        <p:spPr>
          <a:xfrm>
            <a:off x="731520" y="914400"/>
            <a:ext cx="9144000" cy="64008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Cybersecurity, Privacy &amp; Ethical Issues</a:t>
            </a:r>
          </a:p>
        </p:txBody>
      </p:sp>
      <p:sp>
        <p:nvSpPr>
          <p:cNvPr id="5" name="Rectangle 4"/>
          <p:cNvSpPr/>
          <p:nvPr/>
        </p:nvSpPr>
        <p:spPr>
          <a:xfrm>
            <a:off x="731520" y="1645920"/>
            <a:ext cx="228600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03120"/>
            <a:ext cx="3474720" cy="411480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103120"/>
            <a:ext cx="347472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48840"/>
            <a:ext cx="2926080" cy="365760"/>
          </a:xfrm>
          <a:prstGeom prst="rect">
            <a:avLst/>
          </a:prstGeom>
          <a:noFill/>
        </p:spPr>
        <p:txBody>
          <a:bodyPr wrap="square">
            <a:spAutoFit/>
          </a:bodyPr>
          <a:lstStyle/>
          <a:p>
            <a:pPr algn="l">
              <a:lnSpc>
                <a:spcPts val="1560"/>
              </a:lnSpc>
              <a:spcBef>
                <a:spcPts val="0"/>
              </a:spcBef>
              <a:spcAft>
                <a:spcPts val="0"/>
              </a:spcAft>
              <a:defRPr sz="1300" b="1">
                <a:solidFill>
                  <a:srgbClr val="FFFFFF"/>
                </a:solidFill>
                <a:latin typeface="Calibri"/>
              </a:defRPr>
            </a:pPr>
            <a:r>
              <a:t>SECURITY ISSUES</a:t>
            </a:r>
          </a:p>
        </p:txBody>
      </p:sp>
      <p:sp>
        <p:nvSpPr>
          <p:cNvPr id="9" name="TextBox 8"/>
          <p:cNvSpPr txBox="1"/>
          <p:nvPr/>
        </p:nvSpPr>
        <p:spPr>
          <a:xfrm>
            <a:off x="1005840" y="2743200"/>
            <a:ext cx="3017520" cy="3200400"/>
          </a:xfrm>
          <a:prstGeom prst="rect">
            <a:avLst/>
          </a:prstGeom>
          <a:noFill/>
        </p:spPr>
        <p:txBody>
          <a:bodyPr wrap="square">
            <a:spAutoFit/>
          </a:bodyPr>
          <a:lstStyle/>
          <a:p>
            <a:pPr algn="l">
              <a:lnSpc>
                <a:spcPts val="1980"/>
              </a:lnSpc>
              <a:spcAft>
                <a:spcPts val="600"/>
              </a:spcAft>
              <a:defRPr sz="1100">
                <a:solidFill>
                  <a:srgbClr val="CCCCCC"/>
                </a:solidFill>
                <a:latin typeface="Calibri"/>
              </a:defRPr>
            </a:pPr>
            <a:r>
              <a:t>•  Weak help desk identity verification procedures</a:t>
            </a:r>
          </a:p>
          <a:p>
            <a:pPr algn="l">
              <a:lnSpc>
                <a:spcPts val="1980"/>
              </a:lnSpc>
              <a:spcAft>
                <a:spcPts val="600"/>
              </a:spcAft>
              <a:defRPr sz="1100">
                <a:solidFill>
                  <a:srgbClr val="CCCCCC"/>
                </a:solidFill>
                <a:latin typeface="Calibri"/>
              </a:defRPr>
            </a:pPr>
            <a:r>
              <a:t>•  Insufficient monitoring of privileged account activity</a:t>
            </a:r>
          </a:p>
          <a:p>
            <a:pPr algn="l">
              <a:lnSpc>
                <a:spcPts val="1980"/>
              </a:lnSpc>
              <a:spcAft>
                <a:spcPts val="600"/>
              </a:spcAft>
              <a:defRPr sz="1100">
                <a:solidFill>
                  <a:srgbClr val="CCCCCC"/>
                </a:solidFill>
                <a:latin typeface="Calibri"/>
              </a:defRPr>
            </a:pPr>
            <a:r>
              <a:t>•  Over-reliance on Okta without hardening federation features</a:t>
            </a:r>
          </a:p>
          <a:p>
            <a:pPr algn="l">
              <a:lnSpc>
                <a:spcPts val="1980"/>
              </a:lnSpc>
              <a:spcAft>
                <a:spcPts val="600"/>
              </a:spcAft>
              <a:defRPr sz="1100">
                <a:solidFill>
                  <a:srgbClr val="CCCCCC"/>
                </a:solidFill>
                <a:latin typeface="Calibri"/>
              </a:defRPr>
            </a:pPr>
            <a:r>
              <a:t>•  Credential reuse from prior breaches not detected</a:t>
            </a:r>
          </a:p>
          <a:p>
            <a:pPr algn="l">
              <a:lnSpc>
                <a:spcPts val="1980"/>
              </a:lnSpc>
              <a:spcAft>
                <a:spcPts val="600"/>
              </a:spcAft>
              <a:defRPr sz="1100">
                <a:solidFill>
                  <a:srgbClr val="CCCCCC"/>
                </a:solidFill>
                <a:latin typeface="Calibri"/>
              </a:defRPr>
            </a:pPr>
            <a:r>
              <a:t>•  Inadequate network segmentation between cloud and on-prem</a:t>
            </a:r>
          </a:p>
        </p:txBody>
      </p:sp>
      <p:sp>
        <p:nvSpPr>
          <p:cNvPr id="10" name="Rounded Rectangle 9"/>
          <p:cNvSpPr/>
          <p:nvPr/>
        </p:nvSpPr>
        <p:spPr>
          <a:xfrm>
            <a:off x="4480559" y="2103120"/>
            <a:ext cx="3474720" cy="411480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80559" y="2103120"/>
            <a:ext cx="3474720" cy="45720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79" y="2148840"/>
            <a:ext cx="2926080" cy="365760"/>
          </a:xfrm>
          <a:prstGeom prst="rect">
            <a:avLst/>
          </a:prstGeom>
          <a:noFill/>
        </p:spPr>
        <p:txBody>
          <a:bodyPr wrap="square">
            <a:spAutoFit/>
          </a:bodyPr>
          <a:lstStyle/>
          <a:p>
            <a:pPr algn="l">
              <a:lnSpc>
                <a:spcPts val="1560"/>
              </a:lnSpc>
              <a:spcBef>
                <a:spcPts val="0"/>
              </a:spcBef>
              <a:spcAft>
                <a:spcPts val="0"/>
              </a:spcAft>
              <a:defRPr sz="1300" b="1">
                <a:solidFill>
                  <a:srgbClr val="FFFFFF"/>
                </a:solidFill>
                <a:latin typeface="Calibri"/>
              </a:defRPr>
            </a:pPr>
            <a:r>
              <a:t>PRIVACY ISSUES</a:t>
            </a:r>
          </a:p>
        </p:txBody>
      </p:sp>
      <p:sp>
        <p:nvSpPr>
          <p:cNvPr id="13" name="TextBox 12"/>
          <p:cNvSpPr txBox="1"/>
          <p:nvPr/>
        </p:nvSpPr>
        <p:spPr>
          <a:xfrm>
            <a:off x="4754879" y="2743200"/>
            <a:ext cx="3017520" cy="3200400"/>
          </a:xfrm>
          <a:prstGeom prst="rect">
            <a:avLst/>
          </a:prstGeom>
          <a:noFill/>
        </p:spPr>
        <p:txBody>
          <a:bodyPr wrap="square">
            <a:spAutoFit/>
          </a:bodyPr>
          <a:lstStyle/>
          <a:p>
            <a:pPr algn="l">
              <a:lnSpc>
                <a:spcPts val="1980"/>
              </a:lnSpc>
              <a:spcAft>
                <a:spcPts val="600"/>
              </a:spcAft>
              <a:defRPr sz="1100">
                <a:solidFill>
                  <a:srgbClr val="CCCCCC"/>
                </a:solidFill>
                <a:latin typeface="Calibri"/>
              </a:defRPr>
            </a:pPr>
            <a:r>
              <a:t>•  6 TB of customer PII exfiltrated (names, DOB, IDs)</a:t>
            </a:r>
          </a:p>
          <a:p>
            <a:pPr algn="l">
              <a:lnSpc>
                <a:spcPts val="1980"/>
              </a:lnSpc>
              <a:spcAft>
                <a:spcPts val="600"/>
              </a:spcAft>
              <a:defRPr sz="1100">
                <a:solidFill>
                  <a:srgbClr val="CCCCCC"/>
                </a:solidFill>
                <a:latin typeface="Calibri"/>
              </a:defRPr>
            </a:pPr>
            <a:r>
              <a:t>•  Social Security and passport numbers compromised</a:t>
            </a:r>
          </a:p>
          <a:p>
            <a:pPr algn="l">
              <a:lnSpc>
                <a:spcPts val="1980"/>
              </a:lnSpc>
              <a:spcAft>
                <a:spcPts val="600"/>
              </a:spcAft>
              <a:defRPr sz="1100">
                <a:solidFill>
                  <a:srgbClr val="CCCCCC"/>
                </a:solidFill>
                <a:latin typeface="Calibri"/>
              </a:defRPr>
            </a:pPr>
            <a:r>
              <a:t>•  Customer data allegedly stored unencrypted</a:t>
            </a:r>
          </a:p>
          <a:p>
            <a:pPr algn="l">
              <a:lnSpc>
                <a:spcPts val="1980"/>
              </a:lnSpc>
              <a:spcAft>
                <a:spcPts val="600"/>
              </a:spcAft>
              <a:defRPr sz="1100">
                <a:solidFill>
                  <a:srgbClr val="CCCCCC"/>
                </a:solidFill>
                <a:latin typeface="Calibri"/>
              </a:defRPr>
            </a:pPr>
            <a:r>
              <a:t>•  Pre-2019 customer records remained accessible</a:t>
            </a:r>
          </a:p>
          <a:p>
            <a:pPr algn="l">
              <a:lnSpc>
                <a:spcPts val="1980"/>
              </a:lnSpc>
              <a:spcAft>
                <a:spcPts val="600"/>
              </a:spcAft>
              <a:defRPr sz="1100">
                <a:solidFill>
                  <a:srgbClr val="CCCCCC"/>
                </a:solidFill>
                <a:latin typeface="Calibri"/>
              </a:defRPr>
            </a:pPr>
            <a:r>
              <a:t>•  Millions of guest records exposed to criminal actors</a:t>
            </a:r>
          </a:p>
        </p:txBody>
      </p:sp>
      <p:sp>
        <p:nvSpPr>
          <p:cNvPr id="14" name="Rounded Rectangle 13"/>
          <p:cNvSpPr/>
          <p:nvPr/>
        </p:nvSpPr>
        <p:spPr>
          <a:xfrm>
            <a:off x="8229598" y="2103120"/>
            <a:ext cx="3474720" cy="411480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598" y="2103120"/>
            <a:ext cx="3474720" cy="457200"/>
          </a:xfrm>
          <a:prstGeom prst="rect">
            <a:avLst/>
          </a:prstGeom>
          <a:solidFill>
            <a:srgbClr val="00C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18" y="2148840"/>
            <a:ext cx="2926080" cy="365760"/>
          </a:xfrm>
          <a:prstGeom prst="rect">
            <a:avLst/>
          </a:prstGeom>
          <a:noFill/>
        </p:spPr>
        <p:txBody>
          <a:bodyPr wrap="square">
            <a:spAutoFit/>
          </a:bodyPr>
          <a:lstStyle/>
          <a:p>
            <a:pPr algn="l">
              <a:lnSpc>
                <a:spcPts val="1560"/>
              </a:lnSpc>
              <a:spcBef>
                <a:spcPts val="0"/>
              </a:spcBef>
              <a:spcAft>
                <a:spcPts val="0"/>
              </a:spcAft>
              <a:defRPr sz="1300" b="1">
                <a:solidFill>
                  <a:srgbClr val="FFFFFF"/>
                </a:solidFill>
                <a:latin typeface="Calibri"/>
              </a:defRPr>
            </a:pPr>
            <a:r>
              <a:t>ETHICAL ISSUES</a:t>
            </a:r>
          </a:p>
        </p:txBody>
      </p:sp>
      <p:sp>
        <p:nvSpPr>
          <p:cNvPr id="17" name="TextBox 16"/>
          <p:cNvSpPr txBox="1"/>
          <p:nvPr/>
        </p:nvSpPr>
        <p:spPr>
          <a:xfrm>
            <a:off x="8503918" y="2743200"/>
            <a:ext cx="3017520" cy="3200400"/>
          </a:xfrm>
          <a:prstGeom prst="rect">
            <a:avLst/>
          </a:prstGeom>
          <a:noFill/>
        </p:spPr>
        <p:txBody>
          <a:bodyPr wrap="square">
            <a:spAutoFit/>
          </a:bodyPr>
          <a:lstStyle/>
          <a:p>
            <a:pPr algn="l">
              <a:lnSpc>
                <a:spcPts val="1980"/>
              </a:lnSpc>
              <a:spcAft>
                <a:spcPts val="600"/>
              </a:spcAft>
              <a:defRPr sz="1100">
                <a:solidFill>
                  <a:srgbClr val="CCCCCC"/>
                </a:solidFill>
                <a:latin typeface="Calibri"/>
              </a:defRPr>
            </a:pPr>
            <a:r>
              <a:t>•  Attackers exploited human trust and social goodwill</a:t>
            </a:r>
          </a:p>
          <a:p>
            <a:pPr algn="l">
              <a:lnSpc>
                <a:spcPts val="1980"/>
              </a:lnSpc>
              <a:spcAft>
                <a:spcPts val="600"/>
              </a:spcAft>
              <a:defRPr sz="1100">
                <a:solidFill>
                  <a:srgbClr val="CCCCCC"/>
                </a:solidFill>
                <a:latin typeface="Calibri"/>
              </a:defRPr>
            </a:pPr>
            <a:r>
              <a:t>•  Help desk workers manipulated through impersonation</a:t>
            </a:r>
          </a:p>
          <a:p>
            <a:pPr algn="l">
              <a:lnSpc>
                <a:spcPts val="1980"/>
              </a:lnSpc>
              <a:spcAft>
                <a:spcPts val="600"/>
              </a:spcAft>
              <a:defRPr sz="1100">
                <a:solidFill>
                  <a:srgbClr val="CCCCCC"/>
                </a:solidFill>
                <a:latin typeface="Calibri"/>
              </a:defRPr>
            </a:pPr>
            <a:r>
              <a:t>•  Criminal use of publicly available LinkedIn data</a:t>
            </a:r>
          </a:p>
          <a:p>
            <a:pPr algn="l">
              <a:lnSpc>
                <a:spcPts val="1980"/>
              </a:lnSpc>
              <a:spcAft>
                <a:spcPts val="600"/>
              </a:spcAft>
              <a:defRPr sz="1100">
                <a:solidFill>
                  <a:srgbClr val="CCCCCC"/>
                </a:solidFill>
                <a:latin typeface="Calibri"/>
              </a:defRPr>
            </a:pPr>
            <a:r>
              <a:t>•  Ransom extortion threatening public data release</a:t>
            </a:r>
          </a:p>
          <a:p>
            <a:pPr algn="l">
              <a:lnSpc>
                <a:spcPts val="1980"/>
              </a:lnSpc>
              <a:spcAft>
                <a:spcPts val="600"/>
              </a:spcAft>
              <a:defRPr sz="1100">
                <a:solidFill>
                  <a:srgbClr val="CCCCCC"/>
                </a:solidFill>
                <a:latin typeface="Calibri"/>
              </a:defRPr>
            </a:pPr>
            <a:r>
              <a:t>•  Debate over MGM's duty of care to customers</a:t>
            </a:r>
          </a:p>
        </p:txBody>
      </p:sp>
      <p:sp>
        <p:nvSpPr>
          <p:cNvPr id="18" name="TextBox 17"/>
          <p:cNvSpPr txBox="1"/>
          <p:nvPr/>
        </p:nvSpPr>
        <p:spPr>
          <a:xfrm>
            <a:off x="11155680" y="6400800"/>
            <a:ext cx="914400" cy="365760"/>
          </a:xfrm>
          <a:prstGeom prst="rect">
            <a:avLst/>
          </a:prstGeom>
          <a:noFill/>
        </p:spPr>
        <p:txBody>
          <a:bodyPr wrap="square">
            <a:spAutoFit/>
          </a:bodyPr>
          <a:lstStyle/>
          <a:p>
            <a:pPr algn="r">
              <a:lnSpc>
                <a:spcPts val="1200"/>
              </a:lnSpc>
              <a:spcBef>
                <a:spcPts val="0"/>
              </a:spcBef>
              <a:spcAft>
                <a:spcPts val="0"/>
              </a:spcAft>
              <a:defRPr sz="1000" b="0">
                <a:solidFill>
                  <a:srgbClr val="999999"/>
                </a:solidFill>
                <a:latin typeface="Calibri"/>
              </a:defRPr>
            </a:pPr>
            <a: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45720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07  LEGAL FRAMEWORK</a:t>
            </a:r>
          </a:p>
        </p:txBody>
      </p:sp>
      <p:sp>
        <p:nvSpPr>
          <p:cNvPr id="4" name="TextBox 3"/>
          <p:cNvSpPr txBox="1"/>
          <p:nvPr/>
        </p:nvSpPr>
        <p:spPr>
          <a:xfrm>
            <a:off x="731520" y="914400"/>
            <a:ext cx="9144000" cy="64008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Rules, Laws &amp; Professional Principles Violated</a:t>
            </a:r>
          </a:p>
        </p:txBody>
      </p:sp>
      <p:sp>
        <p:nvSpPr>
          <p:cNvPr id="5" name="Rectangle 4"/>
          <p:cNvSpPr/>
          <p:nvPr/>
        </p:nvSpPr>
        <p:spPr>
          <a:xfrm>
            <a:off x="731520" y="1645920"/>
            <a:ext cx="228600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011680"/>
            <a:ext cx="5303520" cy="132588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011680"/>
            <a:ext cx="91440" cy="132588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103120"/>
            <a:ext cx="4754880" cy="320040"/>
          </a:xfrm>
          <a:prstGeom prst="rect">
            <a:avLst/>
          </a:prstGeom>
          <a:noFill/>
        </p:spPr>
        <p:txBody>
          <a:bodyPr wrap="square">
            <a:spAutoFit/>
          </a:bodyPr>
          <a:lstStyle/>
          <a:p>
            <a:pPr algn="l">
              <a:lnSpc>
                <a:spcPts val="1560"/>
              </a:lnSpc>
              <a:spcBef>
                <a:spcPts val="0"/>
              </a:spcBef>
              <a:spcAft>
                <a:spcPts val="0"/>
              </a:spcAft>
              <a:defRPr sz="1300" b="1">
                <a:solidFill>
                  <a:srgbClr val="E83E3E"/>
                </a:solidFill>
                <a:latin typeface="Calibri"/>
              </a:defRPr>
            </a:pPr>
            <a:r>
              <a:t>Computer Fraud and Abuse Act (CFAA)</a:t>
            </a:r>
          </a:p>
        </p:txBody>
      </p:sp>
      <p:sp>
        <p:nvSpPr>
          <p:cNvPr id="9" name="TextBox 8"/>
          <p:cNvSpPr txBox="1"/>
          <p:nvPr/>
        </p:nvSpPr>
        <p:spPr>
          <a:xfrm>
            <a:off x="1005840" y="2468880"/>
            <a:ext cx="4754880" cy="777240"/>
          </a:xfrm>
          <a:prstGeom prst="rect">
            <a:avLst/>
          </a:prstGeom>
          <a:noFill/>
        </p:spPr>
        <p:txBody>
          <a:bodyPr wrap="square">
            <a:spAutoFit/>
          </a:bodyPr>
          <a:lstStyle/>
          <a:p>
            <a:pPr algn="l">
              <a:lnSpc>
                <a:spcPts val="1470"/>
              </a:lnSpc>
              <a:spcBef>
                <a:spcPts val="0"/>
              </a:spcBef>
              <a:spcAft>
                <a:spcPts val="0"/>
              </a:spcAft>
              <a:defRPr sz="1050" b="0">
                <a:solidFill>
                  <a:srgbClr val="CCCCCC"/>
                </a:solidFill>
                <a:latin typeface="Calibri"/>
              </a:defRPr>
            </a:pPr>
            <a:r>
              <a:t>Federal law prohibiting unauthorized access to protected computers. Scattered Spider's intrusion constitutes a direct violation, carrying criminal penalties of up to 20 years imprisonment.</a:t>
            </a:r>
          </a:p>
        </p:txBody>
      </p:sp>
      <p:sp>
        <p:nvSpPr>
          <p:cNvPr id="10" name="Rounded Rectangle 9"/>
          <p:cNvSpPr/>
          <p:nvPr/>
        </p:nvSpPr>
        <p:spPr>
          <a:xfrm>
            <a:off x="6217920" y="2011680"/>
            <a:ext cx="5303520" cy="132588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011680"/>
            <a:ext cx="91440" cy="132588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103120"/>
            <a:ext cx="4754880" cy="320040"/>
          </a:xfrm>
          <a:prstGeom prst="rect">
            <a:avLst/>
          </a:prstGeom>
          <a:noFill/>
        </p:spPr>
        <p:txBody>
          <a:bodyPr wrap="square">
            <a:spAutoFit/>
          </a:bodyPr>
          <a:lstStyle/>
          <a:p>
            <a:pPr algn="l">
              <a:lnSpc>
                <a:spcPts val="1560"/>
              </a:lnSpc>
              <a:spcBef>
                <a:spcPts val="0"/>
              </a:spcBef>
              <a:spcAft>
                <a:spcPts val="0"/>
              </a:spcAft>
              <a:defRPr sz="1300" b="1">
                <a:solidFill>
                  <a:srgbClr val="FFB800"/>
                </a:solidFill>
                <a:latin typeface="Calibri"/>
              </a:defRPr>
            </a:pPr>
            <a:r>
              <a:t>State Data Breach Notification Laws</a:t>
            </a:r>
          </a:p>
        </p:txBody>
      </p:sp>
      <p:sp>
        <p:nvSpPr>
          <p:cNvPr id="13" name="TextBox 12"/>
          <p:cNvSpPr txBox="1"/>
          <p:nvPr/>
        </p:nvSpPr>
        <p:spPr>
          <a:xfrm>
            <a:off x="6492240" y="2468880"/>
            <a:ext cx="4754880" cy="777240"/>
          </a:xfrm>
          <a:prstGeom prst="rect">
            <a:avLst/>
          </a:prstGeom>
          <a:noFill/>
        </p:spPr>
        <p:txBody>
          <a:bodyPr wrap="square">
            <a:spAutoFit/>
          </a:bodyPr>
          <a:lstStyle/>
          <a:p>
            <a:pPr algn="l">
              <a:lnSpc>
                <a:spcPts val="1470"/>
              </a:lnSpc>
              <a:spcBef>
                <a:spcPts val="0"/>
              </a:spcBef>
              <a:spcAft>
                <a:spcPts val="0"/>
              </a:spcAft>
              <a:defRPr sz="1050" b="0">
                <a:solidFill>
                  <a:srgbClr val="CCCCCC"/>
                </a:solidFill>
                <a:latin typeface="Calibri"/>
              </a:defRPr>
            </a:pPr>
            <a:r>
              <a:t>Nevada and other state laws require timely notification of affected individuals. MGM was obligated to disclose the breach and provide credit monitoring services to impacted customers.</a:t>
            </a:r>
          </a:p>
        </p:txBody>
      </p:sp>
      <p:sp>
        <p:nvSpPr>
          <p:cNvPr id="14" name="Rounded Rectangle 13"/>
          <p:cNvSpPr/>
          <p:nvPr/>
        </p:nvSpPr>
        <p:spPr>
          <a:xfrm>
            <a:off x="731520" y="3566160"/>
            <a:ext cx="5303520" cy="132588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3566160"/>
            <a:ext cx="91440" cy="132588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657600"/>
            <a:ext cx="4754880" cy="320040"/>
          </a:xfrm>
          <a:prstGeom prst="rect">
            <a:avLst/>
          </a:prstGeom>
          <a:noFill/>
        </p:spPr>
        <p:txBody>
          <a:bodyPr wrap="square">
            <a:spAutoFit/>
          </a:bodyPr>
          <a:lstStyle/>
          <a:p>
            <a:pPr algn="l">
              <a:lnSpc>
                <a:spcPts val="1560"/>
              </a:lnSpc>
              <a:spcBef>
                <a:spcPts val="0"/>
              </a:spcBef>
              <a:spcAft>
                <a:spcPts val="0"/>
              </a:spcAft>
              <a:defRPr sz="1300" b="1">
                <a:solidFill>
                  <a:srgbClr val="007BFF"/>
                </a:solidFill>
                <a:latin typeface="Calibri"/>
              </a:defRPr>
            </a:pPr>
            <a:r>
              <a:t>SEC Disclosure Requirements</a:t>
            </a:r>
          </a:p>
        </p:txBody>
      </p:sp>
      <p:sp>
        <p:nvSpPr>
          <p:cNvPr id="17" name="TextBox 16"/>
          <p:cNvSpPr txBox="1"/>
          <p:nvPr/>
        </p:nvSpPr>
        <p:spPr>
          <a:xfrm>
            <a:off x="1005840" y="4023360"/>
            <a:ext cx="4754880" cy="777240"/>
          </a:xfrm>
          <a:prstGeom prst="rect">
            <a:avLst/>
          </a:prstGeom>
          <a:noFill/>
        </p:spPr>
        <p:txBody>
          <a:bodyPr wrap="square">
            <a:spAutoFit/>
          </a:bodyPr>
          <a:lstStyle/>
          <a:p>
            <a:pPr algn="l">
              <a:lnSpc>
                <a:spcPts val="1470"/>
              </a:lnSpc>
              <a:spcBef>
                <a:spcPts val="0"/>
              </a:spcBef>
              <a:spcAft>
                <a:spcPts val="0"/>
              </a:spcAft>
              <a:defRPr sz="1050" b="0">
                <a:solidFill>
                  <a:srgbClr val="CCCCCC"/>
                </a:solidFill>
                <a:latin typeface="Calibri"/>
              </a:defRPr>
            </a:pPr>
            <a:r>
              <a:t>As a publicly traded company, MGM was required to disclose material cybersecurity incidents via SEC filings (Form 8-K). The $100M impact met materiality thresholds for mandatory reporting.</a:t>
            </a:r>
          </a:p>
        </p:txBody>
      </p:sp>
      <p:sp>
        <p:nvSpPr>
          <p:cNvPr id="18" name="Rounded Rectangle 17"/>
          <p:cNvSpPr/>
          <p:nvPr/>
        </p:nvSpPr>
        <p:spPr>
          <a:xfrm>
            <a:off x="6217920" y="3566160"/>
            <a:ext cx="5303520" cy="132588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566160"/>
            <a:ext cx="91440" cy="1325880"/>
          </a:xfrm>
          <a:prstGeom prst="rect">
            <a:avLst/>
          </a:prstGeom>
          <a:solidFill>
            <a:srgbClr val="00C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3657600"/>
            <a:ext cx="4754880" cy="320040"/>
          </a:xfrm>
          <a:prstGeom prst="rect">
            <a:avLst/>
          </a:prstGeom>
          <a:noFill/>
        </p:spPr>
        <p:txBody>
          <a:bodyPr wrap="square">
            <a:spAutoFit/>
          </a:bodyPr>
          <a:lstStyle/>
          <a:p>
            <a:pPr algn="l">
              <a:lnSpc>
                <a:spcPts val="1560"/>
              </a:lnSpc>
              <a:spcBef>
                <a:spcPts val="0"/>
              </a:spcBef>
              <a:spcAft>
                <a:spcPts val="0"/>
              </a:spcAft>
              <a:defRPr sz="1300" b="1">
                <a:solidFill>
                  <a:srgbClr val="00C97B"/>
                </a:solidFill>
                <a:latin typeface="Calibri"/>
              </a:defRPr>
            </a:pPr>
            <a:r>
              <a:t>Industry Security Standards (PCI DSS)</a:t>
            </a:r>
          </a:p>
        </p:txBody>
      </p:sp>
      <p:sp>
        <p:nvSpPr>
          <p:cNvPr id="21" name="TextBox 20"/>
          <p:cNvSpPr txBox="1"/>
          <p:nvPr/>
        </p:nvSpPr>
        <p:spPr>
          <a:xfrm>
            <a:off x="6492240" y="4023360"/>
            <a:ext cx="4754880" cy="777240"/>
          </a:xfrm>
          <a:prstGeom prst="rect">
            <a:avLst/>
          </a:prstGeom>
          <a:noFill/>
        </p:spPr>
        <p:txBody>
          <a:bodyPr wrap="square">
            <a:spAutoFit/>
          </a:bodyPr>
          <a:lstStyle/>
          <a:p>
            <a:pPr algn="l">
              <a:lnSpc>
                <a:spcPts val="1470"/>
              </a:lnSpc>
              <a:spcBef>
                <a:spcPts val="0"/>
              </a:spcBef>
              <a:spcAft>
                <a:spcPts val="0"/>
              </a:spcAft>
              <a:defRPr sz="1050" b="0">
                <a:solidFill>
                  <a:srgbClr val="CCCCCC"/>
                </a:solidFill>
                <a:latin typeface="Calibri"/>
              </a:defRPr>
            </a:pPr>
            <a:r>
              <a:t>Payment Card Industry Data Security Standards require robust access controls and encryption. The breach exposed potential gaps in MGM's compliance with these standards.</a:t>
            </a:r>
          </a:p>
        </p:txBody>
      </p:sp>
      <p:sp>
        <p:nvSpPr>
          <p:cNvPr id="22" name="Rounded Rectangle 21"/>
          <p:cNvSpPr/>
          <p:nvPr/>
        </p:nvSpPr>
        <p:spPr>
          <a:xfrm>
            <a:off x="731520" y="5120640"/>
            <a:ext cx="5303520" cy="132588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 y="5120640"/>
            <a:ext cx="91440" cy="1325880"/>
          </a:xfrm>
          <a:prstGeom prst="rect">
            <a:avLst/>
          </a:prstGeom>
          <a:solidFill>
            <a:srgbClr val="AA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5212080"/>
            <a:ext cx="4754880" cy="320040"/>
          </a:xfrm>
          <a:prstGeom prst="rect">
            <a:avLst/>
          </a:prstGeom>
          <a:noFill/>
        </p:spPr>
        <p:txBody>
          <a:bodyPr wrap="square">
            <a:spAutoFit/>
          </a:bodyPr>
          <a:lstStyle/>
          <a:p>
            <a:pPr algn="l">
              <a:lnSpc>
                <a:spcPts val="1560"/>
              </a:lnSpc>
              <a:spcBef>
                <a:spcPts val="0"/>
              </a:spcBef>
              <a:spcAft>
                <a:spcPts val="0"/>
              </a:spcAft>
              <a:defRPr sz="1300" b="1">
                <a:solidFill>
                  <a:srgbClr val="AA00FF"/>
                </a:solidFill>
                <a:latin typeface="Calibri"/>
              </a:defRPr>
            </a:pPr>
            <a:r>
              <a:t>NIST Cybersecurity Framework</a:t>
            </a:r>
          </a:p>
        </p:txBody>
      </p:sp>
      <p:sp>
        <p:nvSpPr>
          <p:cNvPr id="25" name="TextBox 24"/>
          <p:cNvSpPr txBox="1"/>
          <p:nvPr/>
        </p:nvSpPr>
        <p:spPr>
          <a:xfrm>
            <a:off x="1005840" y="5577840"/>
            <a:ext cx="4754880" cy="777240"/>
          </a:xfrm>
          <a:prstGeom prst="rect">
            <a:avLst/>
          </a:prstGeom>
          <a:noFill/>
        </p:spPr>
        <p:txBody>
          <a:bodyPr wrap="square">
            <a:spAutoFit/>
          </a:bodyPr>
          <a:lstStyle/>
          <a:p>
            <a:pPr algn="l">
              <a:lnSpc>
                <a:spcPts val="1470"/>
              </a:lnSpc>
              <a:spcBef>
                <a:spcPts val="0"/>
              </a:spcBef>
              <a:spcAft>
                <a:spcPts val="0"/>
              </a:spcAft>
              <a:defRPr sz="1050" b="0">
                <a:solidFill>
                  <a:srgbClr val="CCCCCC"/>
                </a:solidFill>
                <a:latin typeface="Calibri"/>
              </a:defRPr>
            </a:pPr>
            <a:r>
              <a:t>The incident highlighted failures across multiple NIST pillars: Identify (risk assessment), Protect (access controls), and Detect (monitoring and anomaly detection).</a:t>
            </a:r>
          </a:p>
        </p:txBody>
      </p:sp>
      <p:sp>
        <p:nvSpPr>
          <p:cNvPr id="26" name="Rounded Rectangle 25"/>
          <p:cNvSpPr/>
          <p:nvPr/>
        </p:nvSpPr>
        <p:spPr>
          <a:xfrm>
            <a:off x="6217920" y="5120640"/>
            <a:ext cx="5303520" cy="132588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5120640"/>
            <a:ext cx="91440" cy="132588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5212080"/>
            <a:ext cx="4754880" cy="320040"/>
          </a:xfrm>
          <a:prstGeom prst="rect">
            <a:avLst/>
          </a:prstGeom>
          <a:noFill/>
        </p:spPr>
        <p:txBody>
          <a:bodyPr wrap="square">
            <a:spAutoFit/>
          </a:bodyPr>
          <a:lstStyle/>
          <a:p>
            <a:pPr algn="l">
              <a:lnSpc>
                <a:spcPts val="1560"/>
              </a:lnSpc>
              <a:spcBef>
                <a:spcPts val="0"/>
              </a:spcBef>
              <a:spcAft>
                <a:spcPts val="0"/>
              </a:spcAft>
              <a:defRPr sz="1300" b="1">
                <a:solidFill>
                  <a:srgbClr val="FF6600"/>
                </a:solidFill>
                <a:latin typeface="Calibri"/>
              </a:defRPr>
            </a:pPr>
            <a:r>
              <a:t>Professional Ethics / Duty of Care</a:t>
            </a:r>
          </a:p>
        </p:txBody>
      </p:sp>
      <p:sp>
        <p:nvSpPr>
          <p:cNvPr id="29" name="TextBox 28"/>
          <p:cNvSpPr txBox="1"/>
          <p:nvPr/>
        </p:nvSpPr>
        <p:spPr>
          <a:xfrm>
            <a:off x="6492240" y="5577840"/>
            <a:ext cx="4754880" cy="777240"/>
          </a:xfrm>
          <a:prstGeom prst="rect">
            <a:avLst/>
          </a:prstGeom>
          <a:noFill/>
        </p:spPr>
        <p:txBody>
          <a:bodyPr wrap="square">
            <a:spAutoFit/>
          </a:bodyPr>
          <a:lstStyle/>
          <a:p>
            <a:pPr algn="l">
              <a:lnSpc>
                <a:spcPts val="1470"/>
              </a:lnSpc>
              <a:spcBef>
                <a:spcPts val="0"/>
              </a:spcBef>
              <a:spcAft>
                <a:spcPts val="0"/>
              </a:spcAft>
              <a:defRPr sz="1050" b="0">
                <a:solidFill>
                  <a:srgbClr val="CCCCCC"/>
                </a:solidFill>
                <a:latin typeface="Calibri"/>
              </a:defRPr>
            </a:pPr>
            <a:r>
              <a:t>MGM had a professional and ethical obligation to safeguard customer data. Lawsuits allege the company was warned by Okta about social engineering risks but failed to act adequately.</a:t>
            </a:r>
          </a:p>
        </p:txBody>
      </p:sp>
      <p:sp>
        <p:nvSpPr>
          <p:cNvPr id="30" name="TextBox 29"/>
          <p:cNvSpPr txBox="1"/>
          <p:nvPr/>
        </p:nvSpPr>
        <p:spPr>
          <a:xfrm>
            <a:off x="11155680" y="6400800"/>
            <a:ext cx="914400" cy="365760"/>
          </a:xfrm>
          <a:prstGeom prst="rect">
            <a:avLst/>
          </a:prstGeom>
          <a:noFill/>
        </p:spPr>
        <p:txBody>
          <a:bodyPr wrap="square">
            <a:spAutoFit/>
          </a:bodyPr>
          <a:lstStyle/>
          <a:p>
            <a:pPr algn="r">
              <a:lnSpc>
                <a:spcPts val="1200"/>
              </a:lnSpc>
              <a:spcBef>
                <a:spcPts val="0"/>
              </a:spcBef>
              <a:spcAft>
                <a:spcPts val="0"/>
              </a:spcAft>
              <a:defRPr sz="1000" b="0">
                <a:solidFill>
                  <a:srgbClr val="999999"/>
                </a:solidFill>
                <a:latin typeface="Calibri"/>
              </a:defRPr>
            </a:pPr>
            <a: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45720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08  CONSEQUENCES</a:t>
            </a:r>
          </a:p>
        </p:txBody>
      </p:sp>
      <p:sp>
        <p:nvSpPr>
          <p:cNvPr id="4" name="TextBox 3"/>
          <p:cNvSpPr txBox="1"/>
          <p:nvPr/>
        </p:nvSpPr>
        <p:spPr>
          <a:xfrm>
            <a:off x="731520" y="914400"/>
            <a:ext cx="9144000" cy="64008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Consequences &amp; Impact</a:t>
            </a:r>
          </a:p>
        </p:txBody>
      </p:sp>
      <p:sp>
        <p:nvSpPr>
          <p:cNvPr id="5" name="Rectangle 4"/>
          <p:cNvSpPr/>
          <p:nvPr/>
        </p:nvSpPr>
        <p:spPr>
          <a:xfrm>
            <a:off x="731520" y="1645920"/>
            <a:ext cx="228600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103120"/>
            <a:ext cx="2560320" cy="109728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194560"/>
            <a:ext cx="2560320" cy="548640"/>
          </a:xfrm>
          <a:prstGeom prst="rect">
            <a:avLst/>
          </a:prstGeom>
          <a:noFill/>
        </p:spPr>
        <p:txBody>
          <a:bodyPr wrap="square">
            <a:spAutoFit/>
          </a:bodyPr>
          <a:lstStyle/>
          <a:p>
            <a:pPr algn="ctr">
              <a:lnSpc>
                <a:spcPts val="3360"/>
              </a:lnSpc>
              <a:spcBef>
                <a:spcPts val="0"/>
              </a:spcBef>
              <a:spcAft>
                <a:spcPts val="0"/>
              </a:spcAft>
              <a:defRPr sz="2800" b="1">
                <a:solidFill>
                  <a:srgbClr val="E83E3E"/>
                </a:solidFill>
                <a:latin typeface="Calibri"/>
              </a:defRPr>
            </a:pPr>
            <a:r>
              <a:t>$100M</a:t>
            </a:r>
          </a:p>
        </p:txBody>
      </p:sp>
      <p:sp>
        <p:nvSpPr>
          <p:cNvPr id="8" name="TextBox 7"/>
          <p:cNvSpPr txBox="1"/>
          <p:nvPr/>
        </p:nvSpPr>
        <p:spPr>
          <a:xfrm>
            <a:off x="731520" y="2697480"/>
            <a:ext cx="2560320" cy="365760"/>
          </a:xfrm>
          <a:prstGeom prst="rect">
            <a:avLst/>
          </a:prstGeom>
          <a:noFill/>
        </p:spPr>
        <p:txBody>
          <a:bodyPr wrap="square">
            <a:spAutoFit/>
          </a:bodyPr>
          <a:lstStyle/>
          <a:p>
            <a:pPr algn="ctr">
              <a:lnSpc>
                <a:spcPts val="1320"/>
              </a:lnSpc>
              <a:spcBef>
                <a:spcPts val="0"/>
              </a:spcBef>
              <a:spcAft>
                <a:spcPts val="0"/>
              </a:spcAft>
              <a:defRPr sz="1100" b="0">
                <a:solidFill>
                  <a:srgbClr val="CCCCCC"/>
                </a:solidFill>
                <a:latin typeface="Calibri"/>
              </a:defRPr>
            </a:pPr>
            <a:r>
              <a:t>Q3 Revenue Loss</a:t>
            </a:r>
          </a:p>
        </p:txBody>
      </p:sp>
      <p:sp>
        <p:nvSpPr>
          <p:cNvPr id="9" name="Rounded Rectangle 8"/>
          <p:cNvSpPr/>
          <p:nvPr/>
        </p:nvSpPr>
        <p:spPr>
          <a:xfrm>
            <a:off x="3566160" y="2103120"/>
            <a:ext cx="2560320" cy="109728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2194560"/>
            <a:ext cx="2560320" cy="548640"/>
          </a:xfrm>
          <a:prstGeom prst="rect">
            <a:avLst/>
          </a:prstGeom>
          <a:noFill/>
        </p:spPr>
        <p:txBody>
          <a:bodyPr wrap="square">
            <a:spAutoFit/>
          </a:bodyPr>
          <a:lstStyle/>
          <a:p>
            <a:pPr algn="ctr">
              <a:lnSpc>
                <a:spcPts val="3360"/>
              </a:lnSpc>
              <a:spcBef>
                <a:spcPts val="0"/>
              </a:spcBef>
              <a:spcAft>
                <a:spcPts val="0"/>
              </a:spcAft>
              <a:defRPr sz="2800" b="1">
                <a:solidFill>
                  <a:srgbClr val="FFB800"/>
                </a:solidFill>
                <a:latin typeface="Calibri"/>
              </a:defRPr>
            </a:pPr>
            <a:r>
              <a:t>$10M</a:t>
            </a:r>
          </a:p>
        </p:txBody>
      </p:sp>
      <p:sp>
        <p:nvSpPr>
          <p:cNvPr id="11" name="TextBox 10"/>
          <p:cNvSpPr txBox="1"/>
          <p:nvPr/>
        </p:nvSpPr>
        <p:spPr>
          <a:xfrm>
            <a:off x="3566160" y="2697480"/>
            <a:ext cx="2560320" cy="365760"/>
          </a:xfrm>
          <a:prstGeom prst="rect">
            <a:avLst/>
          </a:prstGeom>
          <a:noFill/>
        </p:spPr>
        <p:txBody>
          <a:bodyPr wrap="square">
            <a:spAutoFit/>
          </a:bodyPr>
          <a:lstStyle/>
          <a:p>
            <a:pPr algn="ctr">
              <a:lnSpc>
                <a:spcPts val="1320"/>
              </a:lnSpc>
              <a:spcBef>
                <a:spcPts val="0"/>
              </a:spcBef>
              <a:spcAft>
                <a:spcPts val="0"/>
              </a:spcAft>
              <a:defRPr sz="1100" b="0">
                <a:solidFill>
                  <a:srgbClr val="CCCCCC"/>
                </a:solidFill>
                <a:latin typeface="Calibri"/>
              </a:defRPr>
            </a:pPr>
            <a:r>
              <a:t>Remediation Costs</a:t>
            </a:r>
          </a:p>
        </p:txBody>
      </p:sp>
      <p:sp>
        <p:nvSpPr>
          <p:cNvPr id="12" name="Rounded Rectangle 11"/>
          <p:cNvSpPr/>
          <p:nvPr/>
        </p:nvSpPr>
        <p:spPr>
          <a:xfrm>
            <a:off x="6400800" y="2103120"/>
            <a:ext cx="2560320" cy="109728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2194560"/>
            <a:ext cx="2560320" cy="548640"/>
          </a:xfrm>
          <a:prstGeom prst="rect">
            <a:avLst/>
          </a:prstGeom>
          <a:noFill/>
        </p:spPr>
        <p:txBody>
          <a:bodyPr wrap="square">
            <a:spAutoFit/>
          </a:bodyPr>
          <a:lstStyle/>
          <a:p>
            <a:pPr algn="ctr">
              <a:lnSpc>
                <a:spcPts val="3360"/>
              </a:lnSpc>
              <a:spcBef>
                <a:spcPts val="0"/>
              </a:spcBef>
              <a:spcAft>
                <a:spcPts val="0"/>
              </a:spcAft>
              <a:defRPr sz="2800" b="1">
                <a:solidFill>
                  <a:srgbClr val="007BFF"/>
                </a:solidFill>
                <a:latin typeface="Calibri"/>
              </a:defRPr>
            </a:pPr>
            <a:r>
              <a:t>$45M</a:t>
            </a:r>
          </a:p>
        </p:txBody>
      </p:sp>
      <p:sp>
        <p:nvSpPr>
          <p:cNvPr id="14" name="TextBox 13"/>
          <p:cNvSpPr txBox="1"/>
          <p:nvPr/>
        </p:nvSpPr>
        <p:spPr>
          <a:xfrm>
            <a:off x="6400800" y="2697480"/>
            <a:ext cx="2560320" cy="365760"/>
          </a:xfrm>
          <a:prstGeom prst="rect">
            <a:avLst/>
          </a:prstGeom>
          <a:noFill/>
        </p:spPr>
        <p:txBody>
          <a:bodyPr wrap="square">
            <a:spAutoFit/>
          </a:bodyPr>
          <a:lstStyle/>
          <a:p>
            <a:pPr algn="ctr">
              <a:lnSpc>
                <a:spcPts val="1320"/>
              </a:lnSpc>
              <a:spcBef>
                <a:spcPts val="0"/>
              </a:spcBef>
              <a:spcAft>
                <a:spcPts val="0"/>
              </a:spcAft>
              <a:defRPr sz="1100" b="0">
                <a:solidFill>
                  <a:srgbClr val="CCCCCC"/>
                </a:solidFill>
                <a:latin typeface="Calibri"/>
              </a:defRPr>
            </a:pPr>
            <a:r>
              <a:t>Class-Action Settlement</a:t>
            </a:r>
          </a:p>
        </p:txBody>
      </p:sp>
      <p:sp>
        <p:nvSpPr>
          <p:cNvPr id="15" name="Rounded Rectangle 14"/>
          <p:cNvSpPr/>
          <p:nvPr/>
        </p:nvSpPr>
        <p:spPr>
          <a:xfrm>
            <a:off x="9235440" y="2103120"/>
            <a:ext cx="2560320" cy="109728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2194560"/>
            <a:ext cx="2560320" cy="548640"/>
          </a:xfrm>
          <a:prstGeom prst="rect">
            <a:avLst/>
          </a:prstGeom>
          <a:noFill/>
        </p:spPr>
        <p:txBody>
          <a:bodyPr wrap="square">
            <a:spAutoFit/>
          </a:bodyPr>
          <a:lstStyle/>
          <a:p>
            <a:pPr algn="ctr">
              <a:lnSpc>
                <a:spcPts val="3360"/>
              </a:lnSpc>
              <a:spcBef>
                <a:spcPts val="0"/>
              </a:spcBef>
              <a:spcAft>
                <a:spcPts val="0"/>
              </a:spcAft>
              <a:defRPr sz="2800" b="1">
                <a:solidFill>
                  <a:srgbClr val="00C97B"/>
                </a:solidFill>
                <a:latin typeface="Calibri"/>
              </a:defRPr>
            </a:pPr>
            <a:r>
              <a:t>$40M+</a:t>
            </a:r>
          </a:p>
        </p:txBody>
      </p:sp>
      <p:sp>
        <p:nvSpPr>
          <p:cNvPr id="17" name="TextBox 16"/>
          <p:cNvSpPr txBox="1"/>
          <p:nvPr/>
        </p:nvSpPr>
        <p:spPr>
          <a:xfrm>
            <a:off x="9235440" y="2697480"/>
            <a:ext cx="2560320" cy="365760"/>
          </a:xfrm>
          <a:prstGeom prst="rect">
            <a:avLst/>
          </a:prstGeom>
          <a:noFill/>
        </p:spPr>
        <p:txBody>
          <a:bodyPr wrap="square">
            <a:spAutoFit/>
          </a:bodyPr>
          <a:lstStyle/>
          <a:p>
            <a:pPr algn="ctr">
              <a:lnSpc>
                <a:spcPts val="1320"/>
              </a:lnSpc>
              <a:spcBef>
                <a:spcPts val="0"/>
              </a:spcBef>
              <a:spcAft>
                <a:spcPts val="0"/>
              </a:spcAft>
              <a:defRPr sz="1100" b="0">
                <a:solidFill>
                  <a:srgbClr val="CCCCCC"/>
                </a:solidFill>
                <a:latin typeface="Calibri"/>
              </a:defRPr>
            </a:pPr>
            <a:r>
              <a:t>IT Infrastructure Upgrades</a:t>
            </a:r>
          </a:p>
        </p:txBody>
      </p:sp>
      <p:sp>
        <p:nvSpPr>
          <p:cNvPr id="18" name="Rounded Rectangle 17"/>
          <p:cNvSpPr/>
          <p:nvPr/>
        </p:nvSpPr>
        <p:spPr>
          <a:xfrm>
            <a:off x="731520" y="3474720"/>
            <a:ext cx="3474720" cy="301752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3611880"/>
            <a:ext cx="3017520" cy="320040"/>
          </a:xfrm>
          <a:prstGeom prst="rect">
            <a:avLst/>
          </a:prstGeom>
          <a:noFill/>
        </p:spPr>
        <p:txBody>
          <a:bodyPr wrap="square">
            <a:spAutoFit/>
          </a:bodyPr>
          <a:lstStyle/>
          <a:p>
            <a:pPr algn="l">
              <a:lnSpc>
                <a:spcPts val="1320"/>
              </a:lnSpc>
              <a:spcBef>
                <a:spcPts val="0"/>
              </a:spcBef>
              <a:spcAft>
                <a:spcPts val="0"/>
              </a:spcAft>
              <a:defRPr sz="1100" b="1">
                <a:solidFill>
                  <a:srgbClr val="E83E3E"/>
                </a:solidFill>
                <a:latin typeface="Calibri"/>
              </a:defRPr>
            </a:pPr>
            <a:r>
              <a:t>OPERATIONAL IMPACT</a:t>
            </a:r>
          </a:p>
        </p:txBody>
      </p:sp>
      <p:sp>
        <p:nvSpPr>
          <p:cNvPr id="20" name="Rectangle 19"/>
          <p:cNvSpPr/>
          <p:nvPr/>
        </p:nvSpPr>
        <p:spPr>
          <a:xfrm>
            <a:off x="1005840" y="3931920"/>
            <a:ext cx="1097280" cy="508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114800"/>
            <a:ext cx="3017520" cy="2286000"/>
          </a:xfrm>
          <a:prstGeom prst="rect">
            <a:avLst/>
          </a:prstGeom>
          <a:noFill/>
        </p:spPr>
        <p:txBody>
          <a:bodyPr wrap="square">
            <a:spAutoFit/>
          </a:bodyPr>
          <a:lstStyle/>
          <a:p>
            <a:pPr algn="l">
              <a:lnSpc>
                <a:spcPts val="1784"/>
              </a:lnSpc>
              <a:spcAft>
                <a:spcPts val="600"/>
              </a:spcAft>
              <a:defRPr sz="1050">
                <a:solidFill>
                  <a:srgbClr val="CCCCCC"/>
                </a:solidFill>
                <a:latin typeface="Calibri"/>
              </a:defRPr>
            </a:pPr>
            <a:r>
              <a:t>•  10-day shutdown of slot machines, ATMs, POS systems</a:t>
            </a:r>
          </a:p>
          <a:p>
            <a:pPr algn="l">
              <a:lnSpc>
                <a:spcPts val="1784"/>
              </a:lnSpc>
              <a:spcAft>
                <a:spcPts val="600"/>
              </a:spcAft>
              <a:defRPr sz="1050">
                <a:solidFill>
                  <a:srgbClr val="CCCCCC"/>
                </a:solidFill>
                <a:latin typeface="Calibri"/>
              </a:defRPr>
            </a:pPr>
            <a:r>
              <a:t>•  Digital room keys and check-in systems disabled</a:t>
            </a:r>
          </a:p>
          <a:p>
            <a:pPr algn="l">
              <a:lnSpc>
                <a:spcPts val="1784"/>
              </a:lnSpc>
              <a:spcAft>
                <a:spcPts val="600"/>
              </a:spcAft>
              <a:defRPr sz="1050">
                <a:solidFill>
                  <a:srgbClr val="CCCCCC"/>
                </a:solidFill>
                <a:latin typeface="Calibri"/>
              </a:defRPr>
            </a:pPr>
            <a:r>
              <a:t>•  Website, mobile app, and booking systems offline</a:t>
            </a:r>
          </a:p>
          <a:p>
            <a:pPr algn="l">
              <a:lnSpc>
                <a:spcPts val="1784"/>
              </a:lnSpc>
              <a:spcAft>
                <a:spcPts val="600"/>
              </a:spcAft>
              <a:defRPr sz="1050">
                <a:solidFill>
                  <a:srgbClr val="CCCCCC"/>
                </a:solidFill>
                <a:latin typeface="Calibri"/>
              </a:defRPr>
            </a:pPr>
            <a:r>
              <a:t>•  Manual workarounds caused long guest queues</a:t>
            </a:r>
          </a:p>
          <a:p>
            <a:pPr algn="l">
              <a:lnSpc>
                <a:spcPts val="1784"/>
              </a:lnSpc>
              <a:spcAft>
                <a:spcPts val="600"/>
              </a:spcAft>
              <a:defRPr sz="1050">
                <a:solidFill>
                  <a:srgbClr val="CCCCCC"/>
                </a:solidFill>
                <a:latin typeface="Calibri"/>
              </a:defRPr>
            </a:pPr>
            <a:r>
              <a:t>•  Hotel occupancy dropped to 88% in September</a:t>
            </a:r>
          </a:p>
        </p:txBody>
      </p:sp>
      <p:sp>
        <p:nvSpPr>
          <p:cNvPr id="22" name="Rounded Rectangle 21"/>
          <p:cNvSpPr/>
          <p:nvPr/>
        </p:nvSpPr>
        <p:spPr>
          <a:xfrm>
            <a:off x="4480559" y="3474720"/>
            <a:ext cx="3474720" cy="301752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79" y="3611880"/>
            <a:ext cx="3017520" cy="320040"/>
          </a:xfrm>
          <a:prstGeom prst="rect">
            <a:avLst/>
          </a:prstGeom>
          <a:noFill/>
        </p:spPr>
        <p:txBody>
          <a:bodyPr wrap="square">
            <a:spAutoFit/>
          </a:bodyPr>
          <a:lstStyle/>
          <a:p>
            <a:pPr algn="l">
              <a:lnSpc>
                <a:spcPts val="1320"/>
              </a:lnSpc>
              <a:spcBef>
                <a:spcPts val="0"/>
              </a:spcBef>
              <a:spcAft>
                <a:spcPts val="0"/>
              </a:spcAft>
              <a:defRPr sz="1100" b="1">
                <a:solidFill>
                  <a:srgbClr val="FFB800"/>
                </a:solidFill>
                <a:latin typeface="Calibri"/>
              </a:defRPr>
            </a:pPr>
            <a:r>
              <a:t>LEGAL &amp; REGULATORY IMPACT</a:t>
            </a:r>
          </a:p>
        </p:txBody>
      </p:sp>
      <p:sp>
        <p:nvSpPr>
          <p:cNvPr id="24" name="Rectangle 23"/>
          <p:cNvSpPr/>
          <p:nvPr/>
        </p:nvSpPr>
        <p:spPr>
          <a:xfrm>
            <a:off x="4754879" y="3931920"/>
            <a:ext cx="1097280" cy="5080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79" y="4114800"/>
            <a:ext cx="3017520" cy="2286000"/>
          </a:xfrm>
          <a:prstGeom prst="rect">
            <a:avLst/>
          </a:prstGeom>
          <a:noFill/>
        </p:spPr>
        <p:txBody>
          <a:bodyPr wrap="square">
            <a:spAutoFit/>
          </a:bodyPr>
          <a:lstStyle/>
          <a:p>
            <a:pPr algn="l">
              <a:lnSpc>
                <a:spcPts val="1784"/>
              </a:lnSpc>
              <a:spcAft>
                <a:spcPts val="600"/>
              </a:spcAft>
              <a:defRPr sz="1050">
                <a:solidFill>
                  <a:srgbClr val="CCCCCC"/>
                </a:solidFill>
                <a:latin typeface="Calibri"/>
              </a:defRPr>
            </a:pPr>
            <a:r>
              <a:t>•  Multiple class-action lawsuits filed</a:t>
            </a:r>
          </a:p>
          <a:p>
            <a:pPr algn="l">
              <a:lnSpc>
                <a:spcPts val="1784"/>
              </a:lnSpc>
              <a:spcAft>
                <a:spcPts val="600"/>
              </a:spcAft>
              <a:defRPr sz="1050">
                <a:solidFill>
                  <a:srgbClr val="CCCCCC"/>
                </a:solidFill>
                <a:latin typeface="Calibri"/>
              </a:defRPr>
            </a:pPr>
            <a:r>
              <a:t>•  $45 million settlement (2019 + 2023 breaches)</a:t>
            </a:r>
          </a:p>
          <a:p>
            <a:pPr algn="l">
              <a:lnSpc>
                <a:spcPts val="1784"/>
              </a:lnSpc>
              <a:spcAft>
                <a:spcPts val="600"/>
              </a:spcAft>
              <a:defRPr sz="1050">
                <a:solidFill>
                  <a:srgbClr val="CCCCCC"/>
                </a:solidFill>
                <a:latin typeface="Calibri"/>
              </a:defRPr>
            </a:pPr>
            <a:r>
              <a:t>•  FTC investigation into data security practices</a:t>
            </a:r>
          </a:p>
          <a:p>
            <a:pPr algn="l">
              <a:lnSpc>
                <a:spcPts val="1784"/>
              </a:lnSpc>
              <a:spcAft>
                <a:spcPts val="600"/>
              </a:spcAft>
              <a:defRPr sz="1050">
                <a:solidFill>
                  <a:srgbClr val="CCCCCC"/>
                </a:solidFill>
                <a:latin typeface="Calibri"/>
              </a:defRPr>
            </a:pPr>
            <a:r>
              <a:t>•  SEC filings required for material disclosure</a:t>
            </a:r>
          </a:p>
          <a:p>
            <a:pPr algn="l">
              <a:lnSpc>
                <a:spcPts val="1784"/>
              </a:lnSpc>
              <a:spcAft>
                <a:spcPts val="600"/>
              </a:spcAft>
              <a:defRPr sz="1050">
                <a:solidFill>
                  <a:srgbClr val="CCCCCC"/>
                </a:solidFill>
                <a:latin typeface="Calibri"/>
              </a:defRPr>
            </a:pPr>
            <a:r>
              <a:t>•  State-level investigations (Nevada Gaming Board)</a:t>
            </a:r>
          </a:p>
        </p:txBody>
      </p:sp>
      <p:sp>
        <p:nvSpPr>
          <p:cNvPr id="26" name="Rounded Rectangle 25"/>
          <p:cNvSpPr/>
          <p:nvPr/>
        </p:nvSpPr>
        <p:spPr>
          <a:xfrm>
            <a:off x="8229598" y="3474720"/>
            <a:ext cx="3474720" cy="301752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18" y="3611880"/>
            <a:ext cx="3017520" cy="320040"/>
          </a:xfrm>
          <a:prstGeom prst="rect">
            <a:avLst/>
          </a:prstGeom>
          <a:noFill/>
        </p:spPr>
        <p:txBody>
          <a:bodyPr wrap="square">
            <a:spAutoFit/>
          </a:bodyPr>
          <a:lstStyle/>
          <a:p>
            <a:pPr algn="l">
              <a:lnSpc>
                <a:spcPts val="1320"/>
              </a:lnSpc>
              <a:spcBef>
                <a:spcPts val="0"/>
              </a:spcBef>
              <a:spcAft>
                <a:spcPts val="0"/>
              </a:spcAft>
              <a:defRPr sz="1100" b="1">
                <a:solidFill>
                  <a:srgbClr val="007BFF"/>
                </a:solidFill>
                <a:latin typeface="Calibri"/>
              </a:defRPr>
            </a:pPr>
            <a:r>
              <a:t>REPUTATIONAL &amp; SOCIETAL IMPACT</a:t>
            </a:r>
          </a:p>
        </p:txBody>
      </p:sp>
      <p:sp>
        <p:nvSpPr>
          <p:cNvPr id="28" name="Rectangle 27"/>
          <p:cNvSpPr/>
          <p:nvPr/>
        </p:nvSpPr>
        <p:spPr>
          <a:xfrm>
            <a:off x="8503918" y="3931920"/>
            <a:ext cx="109728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03918" y="4114800"/>
            <a:ext cx="3017520" cy="2286000"/>
          </a:xfrm>
          <a:prstGeom prst="rect">
            <a:avLst/>
          </a:prstGeom>
          <a:noFill/>
        </p:spPr>
        <p:txBody>
          <a:bodyPr wrap="square">
            <a:spAutoFit/>
          </a:bodyPr>
          <a:lstStyle/>
          <a:p>
            <a:pPr algn="l">
              <a:lnSpc>
                <a:spcPts val="1784"/>
              </a:lnSpc>
              <a:spcAft>
                <a:spcPts val="600"/>
              </a:spcAft>
              <a:defRPr sz="1050">
                <a:solidFill>
                  <a:srgbClr val="CCCCCC"/>
                </a:solidFill>
                <a:latin typeface="Calibri"/>
              </a:defRPr>
            </a:pPr>
            <a:r>
              <a:t>•  Loss of customer trust and confidence</a:t>
            </a:r>
          </a:p>
          <a:p>
            <a:pPr algn="l">
              <a:lnSpc>
                <a:spcPts val="1784"/>
              </a:lnSpc>
              <a:spcAft>
                <a:spcPts val="600"/>
              </a:spcAft>
              <a:defRPr sz="1050">
                <a:solidFill>
                  <a:srgbClr val="CCCCCC"/>
                </a:solidFill>
                <a:latin typeface="Calibri"/>
              </a:defRPr>
            </a:pPr>
            <a:r>
              <a:t>•  Heightened public awareness of social engineering</a:t>
            </a:r>
          </a:p>
          <a:p>
            <a:pPr algn="l">
              <a:lnSpc>
                <a:spcPts val="1784"/>
              </a:lnSpc>
              <a:spcAft>
                <a:spcPts val="600"/>
              </a:spcAft>
              <a:defRPr sz="1050">
                <a:solidFill>
                  <a:srgbClr val="CCCCCC"/>
                </a:solidFill>
                <a:latin typeface="Calibri"/>
              </a:defRPr>
            </a:pPr>
            <a:r>
              <a:t>•  Industry-wide reassessment of help desk security</a:t>
            </a:r>
          </a:p>
          <a:p>
            <a:pPr algn="l">
              <a:lnSpc>
                <a:spcPts val="1784"/>
              </a:lnSpc>
              <a:spcAft>
                <a:spcPts val="600"/>
              </a:spcAft>
              <a:defRPr sz="1050">
                <a:solidFill>
                  <a:srgbClr val="CCCCCC"/>
                </a:solidFill>
                <a:latin typeface="Calibri"/>
              </a:defRPr>
            </a:pPr>
            <a:r>
              <a:t>•  Debate on corporate cybersecurity responsibility</a:t>
            </a:r>
          </a:p>
          <a:p>
            <a:pPr algn="l">
              <a:lnSpc>
                <a:spcPts val="1784"/>
              </a:lnSpc>
              <a:spcAft>
                <a:spcPts val="600"/>
              </a:spcAft>
              <a:defRPr sz="1050">
                <a:solidFill>
                  <a:srgbClr val="CCCCCC"/>
                </a:solidFill>
                <a:latin typeface="Calibri"/>
              </a:defRPr>
            </a:pPr>
            <a:r>
              <a:t>•  Highlighted vulnerability of critical infrastructure</a:t>
            </a:r>
          </a:p>
        </p:txBody>
      </p:sp>
      <p:sp>
        <p:nvSpPr>
          <p:cNvPr id="30" name="TextBox 29"/>
          <p:cNvSpPr txBox="1"/>
          <p:nvPr/>
        </p:nvSpPr>
        <p:spPr>
          <a:xfrm>
            <a:off x="11155680" y="6400800"/>
            <a:ext cx="914400" cy="365760"/>
          </a:xfrm>
          <a:prstGeom prst="rect">
            <a:avLst/>
          </a:prstGeom>
          <a:noFill/>
        </p:spPr>
        <p:txBody>
          <a:bodyPr wrap="square">
            <a:spAutoFit/>
          </a:bodyPr>
          <a:lstStyle/>
          <a:p>
            <a:pPr algn="r">
              <a:lnSpc>
                <a:spcPts val="1200"/>
              </a:lnSpc>
              <a:spcBef>
                <a:spcPts val="0"/>
              </a:spcBef>
              <a:spcAft>
                <a:spcPts val="0"/>
              </a:spcAft>
              <a:defRPr sz="1000" b="0">
                <a:solidFill>
                  <a:srgbClr val="999999"/>
                </a:solidFill>
                <a:latin typeface="Calibri"/>
              </a:defRPr>
            </a:pPr>
            <a: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45720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09  PERSONAL OPINION</a:t>
            </a:r>
          </a:p>
        </p:txBody>
      </p:sp>
      <p:sp>
        <p:nvSpPr>
          <p:cNvPr id="4" name="TextBox 3"/>
          <p:cNvSpPr txBox="1"/>
          <p:nvPr/>
        </p:nvSpPr>
        <p:spPr>
          <a:xfrm>
            <a:off x="731520" y="914400"/>
            <a:ext cx="9144000" cy="64008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My Analysis &amp; Opinion</a:t>
            </a:r>
          </a:p>
        </p:txBody>
      </p:sp>
      <p:sp>
        <p:nvSpPr>
          <p:cNvPr id="5" name="Rectangle 4"/>
          <p:cNvSpPr/>
          <p:nvPr/>
        </p:nvSpPr>
        <p:spPr>
          <a:xfrm>
            <a:off x="731520" y="1645920"/>
            <a:ext cx="228600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011680"/>
            <a:ext cx="5303520" cy="201168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011680"/>
            <a:ext cx="91440" cy="201168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148840"/>
            <a:ext cx="4754880" cy="320040"/>
          </a:xfrm>
          <a:prstGeom prst="rect">
            <a:avLst/>
          </a:prstGeom>
          <a:noFill/>
        </p:spPr>
        <p:txBody>
          <a:bodyPr wrap="square">
            <a:spAutoFit/>
          </a:bodyPr>
          <a:lstStyle/>
          <a:p>
            <a:pPr algn="l">
              <a:lnSpc>
                <a:spcPts val="1680"/>
              </a:lnSpc>
              <a:spcBef>
                <a:spcPts val="0"/>
              </a:spcBef>
              <a:spcAft>
                <a:spcPts val="0"/>
              </a:spcAft>
              <a:defRPr sz="1400" b="1">
                <a:solidFill>
                  <a:srgbClr val="E83E3E"/>
                </a:solidFill>
                <a:latin typeface="Calibri"/>
              </a:defRPr>
            </a:pPr>
            <a:r>
              <a:t>The Human Element is the Greatest Vulnerability</a:t>
            </a:r>
          </a:p>
        </p:txBody>
      </p:sp>
      <p:sp>
        <p:nvSpPr>
          <p:cNvPr id="9" name="TextBox 8"/>
          <p:cNvSpPr txBox="1"/>
          <p:nvPr/>
        </p:nvSpPr>
        <p:spPr>
          <a:xfrm>
            <a:off x="1051560" y="2514600"/>
            <a:ext cx="4663440" cy="1371600"/>
          </a:xfrm>
          <a:prstGeom prst="rect">
            <a:avLst/>
          </a:prstGeom>
          <a:noFill/>
        </p:spPr>
        <p:txBody>
          <a:bodyPr wrap="square">
            <a:spAutoFit/>
          </a:bodyPr>
          <a:lstStyle/>
          <a:p>
            <a:pPr algn="l">
              <a:lnSpc>
                <a:spcPts val="1650"/>
              </a:lnSpc>
              <a:spcBef>
                <a:spcPts val="0"/>
              </a:spcBef>
              <a:spcAft>
                <a:spcPts val="0"/>
              </a:spcAft>
              <a:defRPr sz="1100" b="0">
                <a:solidFill>
                  <a:srgbClr val="CCCCCC"/>
                </a:solidFill>
                <a:latin typeface="Calibri"/>
              </a:defRPr>
            </a:pPr>
            <a:r>
              <a:t>This case powerfully demonstrates that cybersecurity is not solely a technical challenge. A 10-minute phone call defeated millions of dollars in security infrastructure. Organizations must invest equally in human-factor security — training employees to recognize and resist social engineering — as they do in firewalls and encryption.</a:t>
            </a:r>
          </a:p>
        </p:txBody>
      </p:sp>
      <p:sp>
        <p:nvSpPr>
          <p:cNvPr id="10" name="Rounded Rectangle 9"/>
          <p:cNvSpPr/>
          <p:nvPr/>
        </p:nvSpPr>
        <p:spPr>
          <a:xfrm>
            <a:off x="6217920" y="2011680"/>
            <a:ext cx="5303520" cy="201168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011680"/>
            <a:ext cx="91440" cy="2011680"/>
          </a:xfrm>
          <a:prstGeom prst="rect">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2148840"/>
            <a:ext cx="4754880" cy="320040"/>
          </a:xfrm>
          <a:prstGeom prst="rect">
            <a:avLst/>
          </a:prstGeom>
          <a:noFill/>
        </p:spPr>
        <p:txBody>
          <a:bodyPr wrap="square">
            <a:spAutoFit/>
          </a:bodyPr>
          <a:lstStyle/>
          <a:p>
            <a:pPr algn="l">
              <a:lnSpc>
                <a:spcPts val="1680"/>
              </a:lnSpc>
              <a:spcBef>
                <a:spcPts val="0"/>
              </a:spcBef>
              <a:spcAft>
                <a:spcPts val="0"/>
              </a:spcAft>
              <a:defRPr sz="1400" b="1">
                <a:solidFill>
                  <a:srgbClr val="FFB800"/>
                </a:solidFill>
                <a:latin typeface="Calibri"/>
              </a:defRPr>
            </a:pPr>
            <a:r>
              <a:t>MGM's Decision Not to Pay Ransom Was Correct</a:t>
            </a:r>
          </a:p>
        </p:txBody>
      </p:sp>
      <p:sp>
        <p:nvSpPr>
          <p:cNvPr id="13" name="TextBox 12"/>
          <p:cNvSpPr txBox="1"/>
          <p:nvPr/>
        </p:nvSpPr>
        <p:spPr>
          <a:xfrm>
            <a:off x="6537960" y="2514600"/>
            <a:ext cx="4663440" cy="1371600"/>
          </a:xfrm>
          <a:prstGeom prst="rect">
            <a:avLst/>
          </a:prstGeom>
          <a:noFill/>
        </p:spPr>
        <p:txBody>
          <a:bodyPr wrap="square">
            <a:spAutoFit/>
          </a:bodyPr>
          <a:lstStyle/>
          <a:p>
            <a:pPr algn="l">
              <a:lnSpc>
                <a:spcPts val="1650"/>
              </a:lnSpc>
              <a:spcBef>
                <a:spcPts val="0"/>
              </a:spcBef>
              <a:spcAft>
                <a:spcPts val="0"/>
              </a:spcAft>
              <a:defRPr sz="1100" b="0">
                <a:solidFill>
                  <a:srgbClr val="CCCCCC"/>
                </a:solidFill>
                <a:latin typeface="Calibri"/>
              </a:defRPr>
            </a:pPr>
            <a:r>
              <a:t>While the $100 million loss is staggering, MGM's refusal to pay the ransom was the ethical and strategically sound choice. Paying ransoms funds criminal enterprises and offers no guarantee of data recovery. MGM's stance, supported by the FBI, sends a critical message to future attackers. Caesars' decision to pay, in contrast, may have emboldened the same threat actors.</a:t>
            </a:r>
          </a:p>
        </p:txBody>
      </p:sp>
      <p:sp>
        <p:nvSpPr>
          <p:cNvPr id="14" name="Rounded Rectangle 13"/>
          <p:cNvSpPr/>
          <p:nvPr/>
        </p:nvSpPr>
        <p:spPr>
          <a:xfrm>
            <a:off x="731520" y="4297680"/>
            <a:ext cx="5303520" cy="201168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297680"/>
            <a:ext cx="91440" cy="201168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434840"/>
            <a:ext cx="4754880" cy="32004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Shared Responsibility in the Digital Age</a:t>
            </a:r>
          </a:p>
        </p:txBody>
      </p:sp>
      <p:sp>
        <p:nvSpPr>
          <p:cNvPr id="17" name="TextBox 16"/>
          <p:cNvSpPr txBox="1"/>
          <p:nvPr/>
        </p:nvSpPr>
        <p:spPr>
          <a:xfrm>
            <a:off x="1051560" y="4800600"/>
            <a:ext cx="4663440" cy="1371600"/>
          </a:xfrm>
          <a:prstGeom prst="rect">
            <a:avLst/>
          </a:prstGeom>
          <a:noFill/>
        </p:spPr>
        <p:txBody>
          <a:bodyPr wrap="square">
            <a:spAutoFit/>
          </a:bodyPr>
          <a:lstStyle/>
          <a:p>
            <a:pPr algn="l">
              <a:lnSpc>
                <a:spcPts val="1650"/>
              </a:lnSpc>
              <a:spcBef>
                <a:spcPts val="0"/>
              </a:spcBef>
              <a:spcAft>
                <a:spcPts val="0"/>
              </a:spcAft>
              <a:defRPr sz="1100" b="0">
                <a:solidFill>
                  <a:srgbClr val="CCCCCC"/>
                </a:solidFill>
                <a:latin typeface="Calibri"/>
              </a:defRPr>
            </a:pPr>
            <a:r>
              <a:t>The attack reveals a broader systemic issue: the tension between operational convenience and security. Okta's inbound federation feature was designed for legitimate business purposes but became a weapon. Both technology vendors and enterprises share responsibility for secure-by-default configurations.</a:t>
            </a:r>
          </a:p>
        </p:txBody>
      </p:sp>
      <p:sp>
        <p:nvSpPr>
          <p:cNvPr id="18" name="Rounded Rectangle 17"/>
          <p:cNvSpPr/>
          <p:nvPr/>
        </p:nvSpPr>
        <p:spPr>
          <a:xfrm>
            <a:off x="6217920" y="4297680"/>
            <a:ext cx="5303520" cy="201168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297680"/>
            <a:ext cx="91440" cy="2011680"/>
          </a:xfrm>
          <a:prstGeom prst="rect">
            <a:avLst/>
          </a:prstGeom>
          <a:solidFill>
            <a:srgbClr val="00C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4434840"/>
            <a:ext cx="4754880" cy="320040"/>
          </a:xfrm>
          <a:prstGeom prst="rect">
            <a:avLst/>
          </a:prstGeom>
          <a:noFill/>
        </p:spPr>
        <p:txBody>
          <a:bodyPr wrap="square">
            <a:spAutoFit/>
          </a:bodyPr>
          <a:lstStyle/>
          <a:p>
            <a:pPr algn="l">
              <a:lnSpc>
                <a:spcPts val="1680"/>
              </a:lnSpc>
              <a:spcBef>
                <a:spcPts val="0"/>
              </a:spcBef>
              <a:spcAft>
                <a:spcPts val="0"/>
              </a:spcAft>
              <a:defRPr sz="1400" b="1">
                <a:solidFill>
                  <a:srgbClr val="00C97B"/>
                </a:solidFill>
                <a:latin typeface="Calibri"/>
              </a:defRPr>
            </a:pPr>
            <a:r>
              <a:t>Corporate Accountability Must Be Strengthened</a:t>
            </a:r>
          </a:p>
        </p:txBody>
      </p:sp>
      <p:sp>
        <p:nvSpPr>
          <p:cNvPr id="21" name="TextBox 20"/>
          <p:cNvSpPr txBox="1"/>
          <p:nvPr/>
        </p:nvSpPr>
        <p:spPr>
          <a:xfrm>
            <a:off x="6537960" y="4800600"/>
            <a:ext cx="4663440" cy="1371600"/>
          </a:xfrm>
          <a:prstGeom prst="rect">
            <a:avLst/>
          </a:prstGeom>
          <a:noFill/>
        </p:spPr>
        <p:txBody>
          <a:bodyPr wrap="square">
            <a:spAutoFit/>
          </a:bodyPr>
          <a:lstStyle/>
          <a:p>
            <a:pPr algn="l">
              <a:lnSpc>
                <a:spcPts val="1650"/>
              </a:lnSpc>
              <a:spcBef>
                <a:spcPts val="0"/>
              </a:spcBef>
              <a:spcAft>
                <a:spcPts val="0"/>
              </a:spcAft>
              <a:defRPr sz="1100" b="0">
                <a:solidFill>
                  <a:srgbClr val="CCCCCC"/>
                </a:solidFill>
                <a:latin typeface="Calibri"/>
              </a:defRPr>
            </a:pPr>
            <a:r>
              <a:t>The fact that MGM had been warned by Okta about social engineering risks — and had suffered a previous breach in 2019 — yet still fell victim, suggests that current regulatory frameworks are insufficient to compel adequate investment in cybersecurity. Stronger enforcement and mandatory security standards are needed.</a:t>
            </a:r>
          </a:p>
        </p:txBody>
      </p:sp>
      <p:sp>
        <p:nvSpPr>
          <p:cNvPr id="22" name="TextBox 21"/>
          <p:cNvSpPr txBox="1"/>
          <p:nvPr/>
        </p:nvSpPr>
        <p:spPr>
          <a:xfrm>
            <a:off x="11155680" y="6400800"/>
            <a:ext cx="914400" cy="365760"/>
          </a:xfrm>
          <a:prstGeom prst="rect">
            <a:avLst/>
          </a:prstGeom>
          <a:noFill/>
        </p:spPr>
        <p:txBody>
          <a:bodyPr wrap="square">
            <a:spAutoFit/>
          </a:bodyPr>
          <a:lstStyle/>
          <a:p>
            <a:pPr algn="r">
              <a:lnSpc>
                <a:spcPts val="1200"/>
              </a:lnSpc>
              <a:spcBef>
                <a:spcPts val="0"/>
              </a:spcBef>
              <a:spcAft>
                <a:spcPts val="0"/>
              </a:spcAft>
              <a:defRPr sz="1000" b="0">
                <a:solidFill>
                  <a:srgbClr val="999999"/>
                </a:solidFill>
                <a:latin typeface="Calibri"/>
              </a:defRPr>
            </a:pPr>
            <a: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0F23"/>
        </a:solidFill>
        <a:effectLst/>
      </p:bgPr>
    </p:bg>
    <p:spTree>
      <p:nvGrpSpPr>
        <p:cNvPr id="1" name=""/>
        <p:cNvGrpSpPr/>
        <p:nvPr/>
      </p:nvGrpSpPr>
      <p:grpSpPr/>
      <p:sp>
        <p:nvSpPr>
          <p:cNvPr id="2" name="Rectangle 1"/>
          <p:cNvSpPr/>
          <p:nvPr/>
        </p:nvSpPr>
        <p:spPr>
          <a:xfrm>
            <a:off x="0" y="0"/>
            <a:ext cx="12191695"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4572000" cy="457200"/>
          </a:xfrm>
          <a:prstGeom prst="rect">
            <a:avLst/>
          </a:prstGeom>
          <a:noFill/>
        </p:spPr>
        <p:txBody>
          <a:bodyPr wrap="square">
            <a:spAutoFit/>
          </a:bodyPr>
          <a:lstStyle/>
          <a:p>
            <a:pPr algn="l">
              <a:lnSpc>
                <a:spcPts val="1680"/>
              </a:lnSpc>
              <a:spcBef>
                <a:spcPts val="0"/>
              </a:spcBef>
              <a:spcAft>
                <a:spcPts val="0"/>
              </a:spcAft>
              <a:defRPr sz="1400" b="1">
                <a:solidFill>
                  <a:srgbClr val="007BFF"/>
                </a:solidFill>
                <a:latin typeface="Calibri"/>
              </a:defRPr>
            </a:pPr>
            <a:r>
              <a:t>10  LESSONS &amp; REFERENCES</a:t>
            </a:r>
          </a:p>
        </p:txBody>
      </p:sp>
      <p:sp>
        <p:nvSpPr>
          <p:cNvPr id="4" name="TextBox 3"/>
          <p:cNvSpPr txBox="1"/>
          <p:nvPr/>
        </p:nvSpPr>
        <p:spPr>
          <a:xfrm>
            <a:off x="731520" y="914400"/>
            <a:ext cx="9144000" cy="640080"/>
          </a:xfrm>
          <a:prstGeom prst="rect">
            <a:avLst/>
          </a:prstGeom>
          <a:noFill/>
        </p:spPr>
        <p:txBody>
          <a:bodyPr wrap="square">
            <a:spAutoFit/>
          </a:bodyPr>
          <a:lstStyle/>
          <a:p>
            <a:pPr algn="l">
              <a:lnSpc>
                <a:spcPts val="3840"/>
              </a:lnSpc>
              <a:spcBef>
                <a:spcPts val="0"/>
              </a:spcBef>
              <a:spcAft>
                <a:spcPts val="0"/>
              </a:spcAft>
              <a:defRPr sz="3200" b="1">
                <a:solidFill>
                  <a:srgbClr val="FFFFFF"/>
                </a:solidFill>
                <a:latin typeface="Calibri"/>
              </a:defRPr>
            </a:pPr>
            <a:r>
              <a:t>Lessons Learned &amp; Recommendations</a:t>
            </a:r>
          </a:p>
        </p:txBody>
      </p:sp>
      <p:sp>
        <p:nvSpPr>
          <p:cNvPr id="5" name="Rectangle 4"/>
          <p:cNvSpPr/>
          <p:nvPr/>
        </p:nvSpPr>
        <p:spPr>
          <a:xfrm>
            <a:off x="731520" y="1645920"/>
            <a:ext cx="228600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2011680"/>
            <a:ext cx="320040" cy="320040"/>
          </a:xfrm>
          <a:prstGeom prst="roundRect">
            <a:avLst>
              <a:gd name="adj" fmla="val 15000"/>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20824"/>
            <a:ext cx="320040" cy="320040"/>
          </a:xfrm>
          <a:prstGeom prst="rect">
            <a:avLst/>
          </a:prstGeom>
          <a:noFill/>
        </p:spPr>
        <p:txBody>
          <a:bodyPr wrap="square">
            <a:spAutoFit/>
          </a:bodyPr>
          <a:lstStyle/>
          <a:p>
            <a:pPr algn="ctr">
              <a:lnSpc>
                <a:spcPts val="1560"/>
              </a:lnSpc>
              <a:spcBef>
                <a:spcPts val="0"/>
              </a:spcBef>
              <a:spcAft>
                <a:spcPts val="0"/>
              </a:spcAft>
              <a:defRPr sz="1300" b="1">
                <a:solidFill>
                  <a:srgbClr val="FFFFFF"/>
                </a:solidFill>
                <a:latin typeface="Calibri"/>
              </a:defRPr>
            </a:pPr>
            <a:r>
              <a:t>1</a:t>
            </a:r>
          </a:p>
        </p:txBody>
      </p:sp>
      <p:sp>
        <p:nvSpPr>
          <p:cNvPr id="8" name="TextBox 7"/>
          <p:cNvSpPr txBox="1"/>
          <p:nvPr/>
        </p:nvSpPr>
        <p:spPr>
          <a:xfrm>
            <a:off x="1188720" y="2011680"/>
            <a:ext cx="4114800" cy="274320"/>
          </a:xfrm>
          <a:prstGeom prst="rect">
            <a:avLst/>
          </a:prstGeom>
          <a:noFill/>
        </p:spPr>
        <p:txBody>
          <a:bodyPr wrap="square">
            <a:spAutoFit/>
          </a:bodyPr>
          <a:lstStyle/>
          <a:p>
            <a:pPr algn="l">
              <a:lnSpc>
                <a:spcPts val="1560"/>
              </a:lnSpc>
              <a:spcBef>
                <a:spcPts val="0"/>
              </a:spcBef>
              <a:spcAft>
                <a:spcPts val="0"/>
              </a:spcAft>
              <a:defRPr sz="1300" b="1">
                <a:solidFill>
                  <a:srgbClr val="E83E3E"/>
                </a:solidFill>
                <a:latin typeface="Calibri"/>
              </a:defRPr>
            </a:pPr>
            <a:r>
              <a:t>Strengthen Identity Verification</a:t>
            </a:r>
          </a:p>
        </p:txBody>
      </p:sp>
      <p:sp>
        <p:nvSpPr>
          <p:cNvPr id="9" name="TextBox 8"/>
          <p:cNvSpPr txBox="1"/>
          <p:nvPr/>
        </p:nvSpPr>
        <p:spPr>
          <a:xfrm>
            <a:off x="1188720" y="2286000"/>
            <a:ext cx="5029200" cy="548640"/>
          </a:xfrm>
          <a:prstGeom prst="rect">
            <a:avLst/>
          </a:prstGeom>
          <a:noFill/>
        </p:spPr>
        <p:txBody>
          <a:bodyPr wrap="square">
            <a:spAutoFit/>
          </a:bodyPr>
          <a:lstStyle/>
          <a:p>
            <a:pPr algn="l">
              <a:lnSpc>
                <a:spcPts val="1400"/>
              </a:lnSpc>
              <a:spcBef>
                <a:spcPts val="0"/>
              </a:spcBef>
              <a:spcAft>
                <a:spcPts val="0"/>
              </a:spcAft>
              <a:defRPr sz="1000" b="0">
                <a:solidFill>
                  <a:srgbClr val="CCCCCC"/>
                </a:solidFill>
                <a:latin typeface="Calibri"/>
              </a:defRPr>
            </a:pPr>
            <a:r>
              <a:t>Implement multi-step verification for help desk requests. Never reset MFA based on a phone call alone. Use callback procedures and manager approval for privileged account changes.</a:t>
            </a:r>
          </a:p>
        </p:txBody>
      </p:sp>
      <p:sp>
        <p:nvSpPr>
          <p:cNvPr id="10" name="Rounded Rectangle 9"/>
          <p:cNvSpPr/>
          <p:nvPr/>
        </p:nvSpPr>
        <p:spPr>
          <a:xfrm>
            <a:off x="731520" y="2880360"/>
            <a:ext cx="320040" cy="320040"/>
          </a:xfrm>
          <a:prstGeom prst="roundRect">
            <a:avLst>
              <a:gd name="adj" fmla="val 15000"/>
            </a:avLst>
          </a:prstGeom>
          <a:solidFill>
            <a:srgbClr val="FFB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889504"/>
            <a:ext cx="320040" cy="320040"/>
          </a:xfrm>
          <a:prstGeom prst="rect">
            <a:avLst/>
          </a:prstGeom>
          <a:noFill/>
        </p:spPr>
        <p:txBody>
          <a:bodyPr wrap="square">
            <a:spAutoFit/>
          </a:bodyPr>
          <a:lstStyle/>
          <a:p>
            <a:pPr algn="ctr">
              <a:lnSpc>
                <a:spcPts val="1560"/>
              </a:lnSpc>
              <a:spcBef>
                <a:spcPts val="0"/>
              </a:spcBef>
              <a:spcAft>
                <a:spcPts val="0"/>
              </a:spcAft>
              <a:defRPr sz="1300" b="1">
                <a:solidFill>
                  <a:srgbClr val="FFFFFF"/>
                </a:solidFill>
                <a:latin typeface="Calibri"/>
              </a:defRPr>
            </a:pPr>
            <a:r>
              <a:t>2</a:t>
            </a:r>
          </a:p>
        </p:txBody>
      </p:sp>
      <p:sp>
        <p:nvSpPr>
          <p:cNvPr id="12" name="TextBox 11"/>
          <p:cNvSpPr txBox="1"/>
          <p:nvPr/>
        </p:nvSpPr>
        <p:spPr>
          <a:xfrm>
            <a:off x="1188720" y="2880360"/>
            <a:ext cx="4114800" cy="274320"/>
          </a:xfrm>
          <a:prstGeom prst="rect">
            <a:avLst/>
          </a:prstGeom>
          <a:noFill/>
        </p:spPr>
        <p:txBody>
          <a:bodyPr wrap="square">
            <a:spAutoFit/>
          </a:bodyPr>
          <a:lstStyle/>
          <a:p>
            <a:pPr algn="l">
              <a:lnSpc>
                <a:spcPts val="1560"/>
              </a:lnSpc>
              <a:spcBef>
                <a:spcPts val="0"/>
              </a:spcBef>
              <a:spcAft>
                <a:spcPts val="0"/>
              </a:spcAft>
              <a:defRPr sz="1300" b="1">
                <a:solidFill>
                  <a:srgbClr val="FFB800"/>
                </a:solidFill>
                <a:latin typeface="Calibri"/>
              </a:defRPr>
            </a:pPr>
            <a:r>
              <a:t>Invest in Security Awareness Training</a:t>
            </a:r>
          </a:p>
        </p:txBody>
      </p:sp>
      <p:sp>
        <p:nvSpPr>
          <p:cNvPr id="13" name="TextBox 12"/>
          <p:cNvSpPr txBox="1"/>
          <p:nvPr/>
        </p:nvSpPr>
        <p:spPr>
          <a:xfrm>
            <a:off x="1188720" y="3154680"/>
            <a:ext cx="5029200" cy="548640"/>
          </a:xfrm>
          <a:prstGeom prst="rect">
            <a:avLst/>
          </a:prstGeom>
          <a:noFill/>
        </p:spPr>
        <p:txBody>
          <a:bodyPr wrap="square">
            <a:spAutoFit/>
          </a:bodyPr>
          <a:lstStyle/>
          <a:p>
            <a:pPr algn="l">
              <a:lnSpc>
                <a:spcPts val="1400"/>
              </a:lnSpc>
              <a:spcBef>
                <a:spcPts val="0"/>
              </a:spcBef>
              <a:spcAft>
                <a:spcPts val="0"/>
              </a:spcAft>
              <a:defRPr sz="1000" b="0">
                <a:solidFill>
                  <a:srgbClr val="CCCCCC"/>
                </a:solidFill>
                <a:latin typeface="Calibri"/>
              </a:defRPr>
            </a:pPr>
            <a:r>
              <a:t>Conduct regular social engineering simulations. Train all staff — especially help desk personnel — to recognize vishing, impersonation, and pretexting attacks.</a:t>
            </a:r>
          </a:p>
        </p:txBody>
      </p:sp>
      <p:sp>
        <p:nvSpPr>
          <p:cNvPr id="14" name="Rounded Rectangle 13"/>
          <p:cNvSpPr/>
          <p:nvPr/>
        </p:nvSpPr>
        <p:spPr>
          <a:xfrm>
            <a:off x="731520" y="3749040"/>
            <a:ext cx="320040" cy="320040"/>
          </a:xfrm>
          <a:prstGeom prst="roundRect">
            <a:avLst>
              <a:gd name="adj" fmla="val 15000"/>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758184"/>
            <a:ext cx="320040" cy="320040"/>
          </a:xfrm>
          <a:prstGeom prst="rect">
            <a:avLst/>
          </a:prstGeom>
          <a:noFill/>
        </p:spPr>
        <p:txBody>
          <a:bodyPr wrap="square">
            <a:spAutoFit/>
          </a:bodyPr>
          <a:lstStyle/>
          <a:p>
            <a:pPr algn="ctr">
              <a:lnSpc>
                <a:spcPts val="1560"/>
              </a:lnSpc>
              <a:spcBef>
                <a:spcPts val="0"/>
              </a:spcBef>
              <a:spcAft>
                <a:spcPts val="0"/>
              </a:spcAft>
              <a:defRPr sz="1300" b="1">
                <a:solidFill>
                  <a:srgbClr val="FFFFFF"/>
                </a:solidFill>
                <a:latin typeface="Calibri"/>
              </a:defRPr>
            </a:pPr>
            <a:r>
              <a:t>3</a:t>
            </a:r>
          </a:p>
        </p:txBody>
      </p:sp>
      <p:sp>
        <p:nvSpPr>
          <p:cNvPr id="16" name="TextBox 15"/>
          <p:cNvSpPr txBox="1"/>
          <p:nvPr/>
        </p:nvSpPr>
        <p:spPr>
          <a:xfrm>
            <a:off x="1188720" y="3749040"/>
            <a:ext cx="4114800" cy="274320"/>
          </a:xfrm>
          <a:prstGeom prst="rect">
            <a:avLst/>
          </a:prstGeom>
          <a:noFill/>
        </p:spPr>
        <p:txBody>
          <a:bodyPr wrap="square">
            <a:spAutoFit/>
          </a:bodyPr>
          <a:lstStyle/>
          <a:p>
            <a:pPr algn="l">
              <a:lnSpc>
                <a:spcPts val="1560"/>
              </a:lnSpc>
              <a:spcBef>
                <a:spcPts val="0"/>
              </a:spcBef>
              <a:spcAft>
                <a:spcPts val="0"/>
              </a:spcAft>
              <a:defRPr sz="1300" b="1">
                <a:solidFill>
                  <a:srgbClr val="007BFF"/>
                </a:solidFill>
                <a:latin typeface="Calibri"/>
              </a:defRPr>
            </a:pPr>
            <a:r>
              <a:t>Adopt Zero-Trust Architecture</a:t>
            </a:r>
          </a:p>
        </p:txBody>
      </p:sp>
      <p:sp>
        <p:nvSpPr>
          <p:cNvPr id="17" name="TextBox 16"/>
          <p:cNvSpPr txBox="1"/>
          <p:nvPr/>
        </p:nvSpPr>
        <p:spPr>
          <a:xfrm>
            <a:off x="1188720" y="4023360"/>
            <a:ext cx="5029200" cy="548640"/>
          </a:xfrm>
          <a:prstGeom prst="rect">
            <a:avLst/>
          </a:prstGeom>
          <a:noFill/>
        </p:spPr>
        <p:txBody>
          <a:bodyPr wrap="square">
            <a:spAutoFit/>
          </a:bodyPr>
          <a:lstStyle/>
          <a:p>
            <a:pPr algn="l">
              <a:lnSpc>
                <a:spcPts val="1400"/>
              </a:lnSpc>
              <a:spcBef>
                <a:spcPts val="0"/>
              </a:spcBef>
              <a:spcAft>
                <a:spcPts val="0"/>
              </a:spcAft>
              <a:defRPr sz="1000" b="0">
                <a:solidFill>
                  <a:srgbClr val="CCCCCC"/>
                </a:solidFill>
                <a:latin typeface="Calibri"/>
              </a:defRPr>
            </a:pPr>
            <a:r>
              <a:t>Eliminate implicit trust. Verify every access request regardless of source. Implement least-privilege access controls and continuous authentication across all systems.</a:t>
            </a:r>
          </a:p>
        </p:txBody>
      </p:sp>
      <p:sp>
        <p:nvSpPr>
          <p:cNvPr id="18" name="Rounded Rectangle 17"/>
          <p:cNvSpPr/>
          <p:nvPr/>
        </p:nvSpPr>
        <p:spPr>
          <a:xfrm>
            <a:off x="731520" y="4617720"/>
            <a:ext cx="320040" cy="320040"/>
          </a:xfrm>
          <a:prstGeom prst="roundRect">
            <a:avLst>
              <a:gd name="adj" fmla="val 15000"/>
            </a:avLst>
          </a:prstGeom>
          <a:solidFill>
            <a:srgbClr val="00C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4626864"/>
            <a:ext cx="320040" cy="320040"/>
          </a:xfrm>
          <a:prstGeom prst="rect">
            <a:avLst/>
          </a:prstGeom>
          <a:noFill/>
        </p:spPr>
        <p:txBody>
          <a:bodyPr wrap="square">
            <a:spAutoFit/>
          </a:bodyPr>
          <a:lstStyle/>
          <a:p>
            <a:pPr algn="ctr">
              <a:lnSpc>
                <a:spcPts val="1560"/>
              </a:lnSpc>
              <a:spcBef>
                <a:spcPts val="0"/>
              </a:spcBef>
              <a:spcAft>
                <a:spcPts val="0"/>
              </a:spcAft>
              <a:defRPr sz="1300" b="1">
                <a:solidFill>
                  <a:srgbClr val="FFFFFF"/>
                </a:solidFill>
                <a:latin typeface="Calibri"/>
              </a:defRPr>
            </a:pPr>
            <a:r>
              <a:t>4</a:t>
            </a:r>
          </a:p>
        </p:txBody>
      </p:sp>
      <p:sp>
        <p:nvSpPr>
          <p:cNvPr id="20" name="TextBox 19"/>
          <p:cNvSpPr txBox="1"/>
          <p:nvPr/>
        </p:nvSpPr>
        <p:spPr>
          <a:xfrm>
            <a:off x="1188720" y="4617720"/>
            <a:ext cx="4114800" cy="274320"/>
          </a:xfrm>
          <a:prstGeom prst="rect">
            <a:avLst/>
          </a:prstGeom>
          <a:noFill/>
        </p:spPr>
        <p:txBody>
          <a:bodyPr wrap="square">
            <a:spAutoFit/>
          </a:bodyPr>
          <a:lstStyle/>
          <a:p>
            <a:pPr algn="l">
              <a:lnSpc>
                <a:spcPts val="1560"/>
              </a:lnSpc>
              <a:spcBef>
                <a:spcPts val="0"/>
              </a:spcBef>
              <a:spcAft>
                <a:spcPts val="0"/>
              </a:spcAft>
              <a:defRPr sz="1300" b="1">
                <a:solidFill>
                  <a:srgbClr val="00C97B"/>
                </a:solidFill>
                <a:latin typeface="Calibri"/>
              </a:defRPr>
            </a:pPr>
            <a:r>
              <a:t>Harden IAM and Cloud Configurations</a:t>
            </a:r>
          </a:p>
        </p:txBody>
      </p:sp>
      <p:sp>
        <p:nvSpPr>
          <p:cNvPr id="21" name="TextBox 20"/>
          <p:cNvSpPr txBox="1"/>
          <p:nvPr/>
        </p:nvSpPr>
        <p:spPr>
          <a:xfrm>
            <a:off x="1188720" y="4892040"/>
            <a:ext cx="5029200" cy="548640"/>
          </a:xfrm>
          <a:prstGeom prst="rect">
            <a:avLst/>
          </a:prstGeom>
          <a:noFill/>
        </p:spPr>
        <p:txBody>
          <a:bodyPr wrap="square">
            <a:spAutoFit/>
          </a:bodyPr>
          <a:lstStyle/>
          <a:p>
            <a:pPr algn="l">
              <a:lnSpc>
                <a:spcPts val="1400"/>
              </a:lnSpc>
              <a:spcBef>
                <a:spcPts val="0"/>
              </a:spcBef>
              <a:spcAft>
                <a:spcPts val="0"/>
              </a:spcAft>
              <a:defRPr sz="1000" b="0">
                <a:solidFill>
                  <a:srgbClr val="CCCCCC"/>
                </a:solidFill>
                <a:latin typeface="Calibri"/>
              </a:defRPr>
            </a:pPr>
            <a:r>
              <a:t>Restrict features like Okta inbound federation. Monitor for unauthorized IdP configurations. Segment cloud and on-premises environments to limit lateral movement.</a:t>
            </a:r>
          </a:p>
        </p:txBody>
      </p:sp>
      <p:sp>
        <p:nvSpPr>
          <p:cNvPr id="22" name="Rounded Rectangle 21"/>
          <p:cNvSpPr/>
          <p:nvPr/>
        </p:nvSpPr>
        <p:spPr>
          <a:xfrm>
            <a:off x="731520" y="5486400"/>
            <a:ext cx="320040" cy="320040"/>
          </a:xfrm>
          <a:prstGeom prst="roundRect">
            <a:avLst>
              <a:gd name="adj" fmla="val 15000"/>
            </a:avLst>
          </a:prstGeom>
          <a:solidFill>
            <a:srgbClr val="AA0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495544"/>
            <a:ext cx="320040" cy="320040"/>
          </a:xfrm>
          <a:prstGeom prst="rect">
            <a:avLst/>
          </a:prstGeom>
          <a:noFill/>
        </p:spPr>
        <p:txBody>
          <a:bodyPr wrap="square">
            <a:spAutoFit/>
          </a:bodyPr>
          <a:lstStyle/>
          <a:p>
            <a:pPr algn="ctr">
              <a:lnSpc>
                <a:spcPts val="1560"/>
              </a:lnSpc>
              <a:spcBef>
                <a:spcPts val="0"/>
              </a:spcBef>
              <a:spcAft>
                <a:spcPts val="0"/>
              </a:spcAft>
              <a:defRPr sz="1300" b="1">
                <a:solidFill>
                  <a:srgbClr val="FFFFFF"/>
                </a:solidFill>
                <a:latin typeface="Calibri"/>
              </a:defRPr>
            </a:pPr>
            <a:r>
              <a:t>5</a:t>
            </a:r>
          </a:p>
        </p:txBody>
      </p:sp>
      <p:sp>
        <p:nvSpPr>
          <p:cNvPr id="24" name="TextBox 23"/>
          <p:cNvSpPr txBox="1"/>
          <p:nvPr/>
        </p:nvSpPr>
        <p:spPr>
          <a:xfrm>
            <a:off x="1188720" y="5486400"/>
            <a:ext cx="4114800" cy="274320"/>
          </a:xfrm>
          <a:prstGeom prst="rect">
            <a:avLst/>
          </a:prstGeom>
          <a:noFill/>
        </p:spPr>
        <p:txBody>
          <a:bodyPr wrap="square">
            <a:spAutoFit/>
          </a:bodyPr>
          <a:lstStyle/>
          <a:p>
            <a:pPr algn="l">
              <a:lnSpc>
                <a:spcPts val="1560"/>
              </a:lnSpc>
              <a:spcBef>
                <a:spcPts val="0"/>
              </a:spcBef>
              <a:spcAft>
                <a:spcPts val="0"/>
              </a:spcAft>
              <a:defRPr sz="1300" b="1">
                <a:solidFill>
                  <a:srgbClr val="AA00FF"/>
                </a:solidFill>
                <a:latin typeface="Calibri"/>
              </a:defRPr>
            </a:pPr>
            <a:r>
              <a:t>Develop and Test Incident Response Plans</a:t>
            </a:r>
          </a:p>
        </p:txBody>
      </p:sp>
      <p:sp>
        <p:nvSpPr>
          <p:cNvPr id="25" name="TextBox 24"/>
          <p:cNvSpPr txBox="1"/>
          <p:nvPr/>
        </p:nvSpPr>
        <p:spPr>
          <a:xfrm>
            <a:off x="1188720" y="5760720"/>
            <a:ext cx="5029200" cy="548640"/>
          </a:xfrm>
          <a:prstGeom prst="rect">
            <a:avLst/>
          </a:prstGeom>
          <a:noFill/>
        </p:spPr>
        <p:txBody>
          <a:bodyPr wrap="square">
            <a:spAutoFit/>
          </a:bodyPr>
          <a:lstStyle/>
          <a:p>
            <a:pPr algn="l">
              <a:lnSpc>
                <a:spcPts val="1400"/>
              </a:lnSpc>
              <a:spcBef>
                <a:spcPts val="0"/>
              </a:spcBef>
              <a:spcAft>
                <a:spcPts val="0"/>
              </a:spcAft>
              <a:defRPr sz="1000" b="0">
                <a:solidFill>
                  <a:srgbClr val="CCCCCC"/>
                </a:solidFill>
                <a:latin typeface="Calibri"/>
              </a:defRPr>
            </a:pPr>
            <a:r>
              <a:t>Regularly rehearse cyberattack scenarios. Ensure rapid containment procedures are documented, and that response teams can isolate compromised systems without causing complete shutdowns.</a:t>
            </a:r>
          </a:p>
        </p:txBody>
      </p:sp>
      <p:sp>
        <p:nvSpPr>
          <p:cNvPr id="26" name="Rounded Rectangle 25"/>
          <p:cNvSpPr/>
          <p:nvPr/>
        </p:nvSpPr>
        <p:spPr>
          <a:xfrm>
            <a:off x="731520" y="6355080"/>
            <a:ext cx="5943600" cy="365760"/>
          </a:xfrm>
          <a:prstGeom prst="roundRect">
            <a:avLst>
              <a:gd name="adj" fmla="val 6000"/>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6373368"/>
            <a:ext cx="5486400" cy="320040"/>
          </a:xfrm>
          <a:prstGeom prst="rect">
            <a:avLst/>
          </a:prstGeom>
          <a:noFill/>
        </p:spPr>
        <p:txBody>
          <a:bodyPr wrap="square">
            <a:spAutoFit/>
          </a:bodyPr>
          <a:lstStyle/>
          <a:p>
            <a:pPr algn="l">
              <a:lnSpc>
                <a:spcPts val="1320"/>
              </a:lnSpc>
              <a:spcBef>
                <a:spcPts val="0"/>
              </a:spcBef>
              <a:spcAft>
                <a:spcPts val="0"/>
              </a:spcAft>
              <a:defRPr sz="1100" b="1">
                <a:solidFill>
                  <a:srgbClr val="FFFFFF"/>
                </a:solidFill>
                <a:latin typeface="Calibri"/>
              </a:defRPr>
            </a:pPr>
            <a:r>
              <a:t>•  Student voice recording of recommendations should be added to this slide</a:t>
            </a:r>
          </a:p>
        </p:txBody>
      </p:sp>
      <p:sp>
        <p:nvSpPr>
          <p:cNvPr id="28" name="Rounded Rectangle 27"/>
          <p:cNvSpPr/>
          <p:nvPr/>
        </p:nvSpPr>
        <p:spPr>
          <a:xfrm>
            <a:off x="6858000" y="2011680"/>
            <a:ext cx="4754880" cy="4663440"/>
          </a:xfrm>
          <a:prstGeom prst="roundRect">
            <a:avLst>
              <a:gd name="adj" fmla="val 4000"/>
            </a:avLst>
          </a:prstGeom>
          <a:solidFill>
            <a:srgbClr val="1E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0" y="2148840"/>
            <a:ext cx="4114800" cy="320040"/>
          </a:xfrm>
          <a:prstGeom prst="rect">
            <a:avLst/>
          </a:prstGeom>
          <a:noFill/>
        </p:spPr>
        <p:txBody>
          <a:bodyPr wrap="square">
            <a:spAutoFit/>
          </a:bodyPr>
          <a:lstStyle/>
          <a:p>
            <a:pPr algn="l">
              <a:lnSpc>
                <a:spcPts val="1439"/>
              </a:lnSpc>
              <a:spcBef>
                <a:spcPts val="0"/>
              </a:spcBef>
              <a:spcAft>
                <a:spcPts val="0"/>
              </a:spcAft>
              <a:defRPr sz="1200" b="1">
                <a:solidFill>
                  <a:srgbClr val="007BFF"/>
                </a:solidFill>
                <a:latin typeface="Calibri"/>
              </a:defRPr>
            </a:pPr>
            <a:r>
              <a:t>REFERENCES</a:t>
            </a:r>
          </a:p>
        </p:txBody>
      </p:sp>
      <p:sp>
        <p:nvSpPr>
          <p:cNvPr id="30" name="Rectangle 29"/>
          <p:cNvSpPr/>
          <p:nvPr/>
        </p:nvSpPr>
        <p:spPr>
          <a:xfrm>
            <a:off x="7132320" y="2468880"/>
            <a:ext cx="1097280" cy="50800"/>
          </a:xfrm>
          <a:prstGeom prst="rect">
            <a:avLst/>
          </a:prstGeom>
          <a:solidFill>
            <a:srgbClr val="007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0" y="2606040"/>
            <a:ext cx="4297680" cy="3931920"/>
          </a:xfrm>
          <a:prstGeom prst="rect">
            <a:avLst/>
          </a:prstGeom>
          <a:noFill/>
        </p:spPr>
        <p:txBody>
          <a:bodyPr wrap="square">
            <a:spAutoFit/>
          </a:bodyPr>
          <a:lstStyle/>
          <a:p>
            <a:pPr algn="l">
              <a:lnSpc>
                <a:spcPts val="2720"/>
              </a:lnSpc>
              <a:spcAft>
                <a:spcPts val="400"/>
              </a:spcAft>
              <a:defRPr sz="850" b="0">
                <a:solidFill>
                  <a:srgbClr val="CCCCCC"/>
                </a:solidFill>
                <a:latin typeface="Calibri"/>
              </a:defRPr>
            </a:pPr>
            <a:r>
              <a:t>CyberArk. (2023). "The MGM Resorts Attack: Initial Analysis." cyberark.com</a:t>
            </a:r>
          </a:p>
          <a:p>
            <a:pPr algn="l">
              <a:lnSpc>
                <a:spcPts val="2720"/>
              </a:lnSpc>
              <a:spcAft>
                <a:spcPts val="400"/>
              </a:spcAft>
              <a:defRPr sz="850" b="0">
                <a:solidFill>
                  <a:srgbClr val="CCCCCC"/>
                </a:solidFill>
                <a:latin typeface="Calibri"/>
              </a:defRPr>
            </a:pPr>
            <a:r>
              <a:t>Netwrix. (2023). "An Overview of the MGM Cyber Attack." netwrix.com</a:t>
            </a:r>
          </a:p>
          <a:p>
            <a:pPr algn="l">
              <a:lnSpc>
                <a:spcPts val="2720"/>
              </a:lnSpc>
              <a:spcAft>
                <a:spcPts val="400"/>
              </a:spcAft>
              <a:defRPr sz="850" b="0">
                <a:solidFill>
                  <a:srgbClr val="CCCCCC"/>
                </a:solidFill>
                <a:latin typeface="Calibri"/>
              </a:defRPr>
            </a:pPr>
            <a:r>
              <a:t>Reuters. (2023). "Casino giant MGM expects $100 million hit from hack." reuters.com</a:t>
            </a:r>
          </a:p>
          <a:p>
            <a:pPr algn="l">
              <a:lnSpc>
                <a:spcPts val="2720"/>
              </a:lnSpc>
              <a:spcAft>
                <a:spcPts val="400"/>
              </a:spcAft>
              <a:defRPr sz="850" b="0">
                <a:solidFill>
                  <a:srgbClr val="CCCCCC"/>
                </a:solidFill>
                <a:latin typeface="Calibri"/>
              </a:defRPr>
            </a:pPr>
            <a:r>
              <a:t>BleepingComputer. (2023). "MGM Resorts ransomware attack led to $100M loss." bleepingcomputer.com</a:t>
            </a:r>
          </a:p>
          <a:p>
            <a:pPr algn="l">
              <a:lnSpc>
                <a:spcPts val="2720"/>
              </a:lnSpc>
              <a:spcAft>
                <a:spcPts val="400"/>
              </a:spcAft>
              <a:defRPr sz="850" b="0">
                <a:solidFill>
                  <a:srgbClr val="CCCCCC"/>
                </a:solidFill>
                <a:latin typeface="Calibri"/>
              </a:defRPr>
            </a:pPr>
            <a:r>
              <a:t>Cyberbit. (2023). "The Scattered Spider MGM Cyberattack." cyberbit.com</a:t>
            </a:r>
          </a:p>
          <a:p>
            <a:pPr algn="l">
              <a:lnSpc>
                <a:spcPts val="2720"/>
              </a:lnSpc>
              <a:spcAft>
                <a:spcPts val="400"/>
              </a:spcAft>
              <a:defRPr sz="850" b="0">
                <a:solidFill>
                  <a:srgbClr val="CCCCCC"/>
                </a:solidFill>
                <a:latin typeface="Calibri"/>
              </a:defRPr>
            </a:pPr>
            <a:r>
              <a:t>ClassAction.org. (2025). "MGM Facing Class Action Over Cyberattack." classaction.org</a:t>
            </a:r>
          </a:p>
          <a:p>
            <a:pPr algn="l">
              <a:lnSpc>
                <a:spcPts val="2720"/>
              </a:lnSpc>
              <a:spcAft>
                <a:spcPts val="400"/>
              </a:spcAft>
              <a:defRPr sz="850" b="0">
                <a:solidFill>
                  <a:srgbClr val="CCCCCC"/>
                </a:solidFill>
                <a:latin typeface="Calibri"/>
              </a:defRPr>
            </a:pPr>
            <a:r>
              <a:t>UH West Oahu. (2023). "ALPHV: Hackers Reveal Details of MGM Cyber Attack." westoahu.hawaii.edu</a:t>
            </a:r>
          </a:p>
          <a:p>
            <a:pPr algn="l">
              <a:lnSpc>
                <a:spcPts val="2720"/>
              </a:lnSpc>
              <a:spcAft>
                <a:spcPts val="400"/>
              </a:spcAft>
              <a:defRPr sz="850" b="0">
                <a:solidFill>
                  <a:srgbClr val="CCCCCC"/>
                </a:solidFill>
                <a:latin typeface="Calibri"/>
              </a:defRPr>
            </a:pPr>
            <a:r>
              <a:t>Las Vegas Review-Journal. (2025). "MGM settles suit for $45M." reviewjournal.com</a:t>
            </a:r>
          </a:p>
        </p:txBody>
      </p:sp>
      <p:sp>
        <p:nvSpPr>
          <p:cNvPr id="32" name="TextBox 31"/>
          <p:cNvSpPr txBox="1"/>
          <p:nvPr/>
        </p:nvSpPr>
        <p:spPr>
          <a:xfrm>
            <a:off x="11155680" y="6400800"/>
            <a:ext cx="914400" cy="365760"/>
          </a:xfrm>
          <a:prstGeom prst="rect">
            <a:avLst/>
          </a:prstGeom>
          <a:noFill/>
        </p:spPr>
        <p:txBody>
          <a:bodyPr wrap="square">
            <a:spAutoFit/>
          </a:bodyPr>
          <a:lstStyle/>
          <a:p>
            <a:pPr algn="r">
              <a:lnSpc>
                <a:spcPts val="1200"/>
              </a:lnSpc>
              <a:spcBef>
                <a:spcPts val="0"/>
              </a:spcBef>
              <a:spcAft>
                <a:spcPts val="0"/>
              </a:spcAft>
              <a:defRPr sz="1000" b="0">
                <a:solidFill>
                  <a:srgbClr val="999999"/>
                </a:solidFill>
                <a:latin typeface="Calibri"/>
              </a:defRPr>
            </a:pPr>
            <a: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